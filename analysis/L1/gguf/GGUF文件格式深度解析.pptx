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【开场】大家好，欢迎参加本次分享。</a:t>
            </a:r>
          </a:p>
          <a:p/>
          <a:p>
            <a:r>
              <a:t>今天的主题是 GGUF 文件格式深度解析。GGUF 是 llama.cpp 与 ggml 生态里事实上的标准模型容器格式，几乎所有能在本地跑起来的大模型——不管是 Qwen、Llama、Mistral 还是 Phi——最后都会被打包成 .gguf 文件。</a:t>
            </a:r>
          </a:p>
          <a:p/>
          <a:p>
            <a:r>
              <a:t>本次内容分两条线索：一条是**规范视角**，从二进制的第一个字节开始，讲 Header、KV 元数据、张量描述符、数据段对齐到底是怎么排布的；另一条是**实现视角**，讲 ggml/src/gguf.cpp 这个 1688 行的 C++ 文件，它是怎么用七阶段把文件解析出来、怎么做安全防御、怎么把量化权重的 4-bit 数据还原成浮点的。</a:t>
            </a:r>
          </a:p>
          <a:p/>
          <a:p>
            <a:r>
              <a:t>全程九个章节，最后两部分分别是对比（GGUF 与旧 GGML、与 ONNX）和总结展望。</a:t>
            </a:r>
          </a:p>
          <a:p/>
          <a:p>
            <a:r>
              <a:t>如果时间紧张，我建议优先听第 02 章（格式规范）、第 04 章（解析流程）和第 06 章（量化原理）——这三章是理解 GGUF 的主干。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【本章导览】我用九个章节来讲，整体是「一条主线、两个视角」。</a:t>
            </a:r>
          </a:p>
          <a:p/>
          <a:p>
            <a:r>
              <a:t>第 01–03 章是静态视角，回答「GGUF 长什么样」：它要解决什么问题（01）、字节怎么排（02）、代码里用什么数据结构承载（03）。</a:t>
            </a:r>
          </a:p>
          <a:p/>
          <a:p>
            <a:r>
              <a:t>第 04–05 章是动态视角，回答「GGUF 怎么被读写」：七阶段解析流程和 no_alloc 两阶段加载（04），以及面对不可信文件时的十二层防御（05）。</a:t>
            </a:r>
          </a:p>
          <a:p/>
          <a:p>
            <a:r>
              <a:t>第 06–07 章落到工程：量化是怎么把 4-bit 塞进文件的（06），以及拿一个真实模型从头到尾拆一遍（07）。</a:t>
            </a:r>
          </a:p>
          <a:p/>
          <a:p>
            <a:r>
              <a:t>第 08–09 章收尾：把 GGUF 跟旧 GGML、跟 ONNX 放一起比，看清它的设计取舍（08），然后总结和展望（09）。</a:t>
            </a:r>
          </a:p>
          <a:p/>
          <a:p>
            <a:r>
              <a:t>节奏上，01 到 03 会快一点，重点在后面几章。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【第一层：它是什么】GGUF 全称 GGML Universal Format，是 ggml 项目为新一代大模型部署设计的二进制容器格式。一句话概括：它是一个「自描述」的格式——文件自己带着说明书，解析器不需要预先知道模型结构就能读懂它。</a:t>
            </a:r>
          </a:p>
          <a:p/>
          <a:p>
            <a:r>
              <a:t>【第二层：为什么要这样】左边上半部分讲的是它要解决的本质问题。大模型文件动辄几十到几百 GB，但推理真正开始时，只需要极小一部分元数据——比如层数、隐藏维度、词表大小。传统做法是把整个文件读进内存（早期的 .pt 就是如此），结果是：首次加载延迟巨大、内存占用等于模型全量大小、也没法支持多分片和边下边载。</a:t>
            </a:r>
          </a:p>
          <a:p/>
          <a:p>
            <a:r>
              <a:t>【第三层：设计约束】左下三条约束决定了实现风格。第一，必须是纯 C API（extern "C"），因为要让 gguf-py、Swift、Android 等语言都能通过 FFI 调用；第二，零外部依赖，只靠 libc 和 C++ STL，这样嵌入式和移动端才能编译；第三，一次解析、多次使用——gguf_context 会被架构识别、分词器构建、权重映射等多个子系统并发只读访问。</a:t>
            </a:r>
          </a:p>
          <a:p/>
          <a:p>
            <a:r>
              <a:t>【右侧：需求映射】右边这张表是整份文档的骨架，R1 到 R8 八项需求，每条都对应一个具体设计响应。特别提醒 R6：防御恶意或损坏文件——这不是可选项，后面第 05 章会专门讲十二层防御。</a:t>
            </a:r>
          </a:p>
          <a:p/>
          <a:p>
            <a:r>
              <a:t>【讲解建议】这一页可以讲 3 分钟。如果听众是工程师，重点放在右表的 R1/R3/R6。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【承接】上一页讲了 GGUF 要解决什么问题，这一页给出它的整体轮廓——文件由三部分组成，顺序固定。</a:t>
            </a:r>
          </a:p>
          <a:p/>
          <a:p>
            <a:r>
              <a:t>【第一部分：Header 文件头】这是文件的「身份证」。它是固定大小的结构体，包含魔数、版本号、张量总数、元数据条数四个字段。作用只有一个：让加载器快速识别这是不是一个合法的 GGUF 文件、以及后面两段各有多长。注意它是定长的，所以读完 24 字节就能算出后续所有区域的偏移。</a:t>
            </a:r>
          </a:p>
          <a:p/>
          <a:p>
            <a:r>
              <a:t>【第二部分：Metadata 元数据区】这是模型的「说明书」，以键值对形式存储。里面放的是模型架构、超参数、分词器配置、量化类型、上下文长度这类信息。关键点：这部分数据不参与计算，纯粹是为了让加载器理解模型结构和运行环境。它的体积很小，通常只有几 KB 到几百 KB。</a:t>
            </a:r>
          </a:p>
          <a:p/>
          <a:p>
            <a:r>
              <a:t>【第三部分：Tensors 张量数据区】这是模型的核心载体，装的是所有权重张量的二进制数据。它占据了文件 99% 以上的体积。权重可能已被量化（比如 Q4_K_M），也可能是原始浮点。</a:t>
            </a:r>
          </a:p>
          <a:p/>
          <a:p>
            <a:r>
              <a:t>【为什么要记住这个顺序】因为元数据前置、数据后置，是 GGUF 几乎所有优秀特性的根源：解析器只要顺序读一遍就能完成全部解析，不需要 seek 到文件尾部去找目录；数据段位置可以预计算，从而支持 mmap 零拷贝。下一页开始逐字节展开。</a:t>
            </a:r>
          </a:p>
          <a:p/>
          <a:p>
            <a:r>
              <a:t>【讲解建议】这一页可以让听众形成整体印象，后面的细节都是往这三个框里填内容。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【本页定位】这是整份材料里最「底层」的一页，把文件从第 0 个字节开始逐段展开。左边是偏移图，右边是六条编码规则。建议对照左边的偏移地址讲。</a:t>
            </a:r>
          </a:p>
          <a:p/>
          <a:p>
            <a:r>
              <a:t>【逐段说明】</a:t>
            </a:r>
          </a:p>
          <a:p>
            <a:r>
              <a:t>偏移 0x00，4 字节，magic = "GGUF"，负责格式识别，是整个解析的第一道关卡。</a:t>
            </a:r>
          </a:p>
          <a:p>
            <a:r>
              <a:t>偏移 0x04，4 字节，version，目前主流是 v3。它有两个作用：一是格式演进，二是兼作字节序自检。</a:t>
            </a:r>
          </a:p>
          <a:p>
            <a:r>
              <a:t>偏移 0x08 和 0x10，各 8 字节，n_tensors 和 n_kv，是对后面两段的「长度预告」——告诉解析器要循环读多少个张量描述符、多少个键值对。注意它们是 int64，不是 int32。</a:t>
            </a:r>
          </a:p>
          <a:p/>
          <a:p>
            <a:r>
              <a:t>接下来是 KV 区，共 n_kv 条，每条是「变长字符串 key + 类型 + 值」。</a:t>
            </a:r>
          </a:p>
          <a:p>
            <a:r>
              <a:t>然后是张量描述符区，共 n_tensors 条，每条是「名称 + 维度数 + 各维大小 + 量化类型 + 偏移」。</a:t>
            </a:r>
          </a:p>
          <a:p/>
          <a:p>
            <a:r>
              <a:t>再往下有一个关键的对齐点：数据段起点要 pad 到 alignment 的整数倍，默认 32 字节。这个设计看起来简单，但它是 mmap 零拷贝的前提，下一页会专门讲为什么。</a:t>
            </a:r>
          </a:p>
          <a:p>
            <a:r>
              <a:t>最后是 Tensor Data Blob，权重数据本体，占绝大部分体积。</a:t>
            </a:r>
          </a:p>
          <a:p/>
          <a:p>
            <a:r>
              <a:t>【右侧六条编码规则】这是最容易在实现时踩坑的地方，逐条讲：</a:t>
            </a:r>
          </a:p>
          <a:p>
            <a:r>
              <a:t>① 字符串编码用的是 uint64 长度前缀 + 原始字节，没有 NUL 终止符。好处是二进制安全，而且免去 strlen，取长度是 O(1)。</a:t>
            </a:r>
          </a:p>
          <a:p>
            <a:r>
              <a:t>② 枚举用 int32_t，是为了兼容负值哨兵——非法类型初始化为 -1，给演进留空间。</a:t>
            </a:r>
          </a:p>
          <a:p>
            <a:r>
              <a:t>③ bool 用 int8_t 而非 C 的 bool，因为 C99 之前 bool 尺寸未定义，int8 是最大公约数。</a:t>
            </a:r>
          </a:p>
          <a:p>
            <a:r>
              <a:t>④ 计数字段一律 64 位：张量数、KV 数、元素数都可能超过 32 位能表达的范围。</a:t>
            </a:r>
          </a:p>
          <a:p>
            <a:r>
              <a:t>⑤ 字节序固定小端，version 字段兼作大端文件的哨兵。</a:t>
            </a:r>
          </a:p>
          <a:p>
            <a:r>
              <a:t>⑥ 对齐默认 32 字节且必须是 2 的幂，理由有三：SIMD/DMA 兼容、位运算取模、mmap 页友好。</a:t>
            </a:r>
          </a:p>
          <a:p/>
          <a:p>
            <a:r>
              <a:t>【讲解建议】这页信息量大，建议按「先讲左图一遍过，再挑右边 ①②⑤ 三条展开」的节奏。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【为什么要单独讲字符串】因为 gguf_string 是 GGUF 里出现最频繁的类型——每一个 key、每一个张量名都是它。它有两个反直觉的设计，实现时必须注意。</a:t>
            </a:r>
          </a:p>
          <a:p/>
          <a:p>
            <a:r>
              <a:t>【设计一：长度前缀，没有终止符】GGUF 的字符串是「uint64 长度 + 原始字节」。对比 C 字符串的 NUL 终止：长度前缀是二进制安全的——内容里可以出现 \0 而不会被截断；取长度是 O(1)，不需要遍历；而且不需要在读取时额外分配一个字节。代价是读取时必须先读 8 字节长度，再做一次上界检查——这正是后面安全章节里的 L4 防御。</a:t>
            </a:r>
          </a:p>
          <a:p/>
          <a:p>
            <a:r>
              <a:t>【设计二：key 有长度上限】key 最长 64 字节（GGUF_KEY_MAX）。张量名也受 GGML_MAX_NAME(64) 限制。为什么要限制？因为 key 在 gguf_kv 结构体里是定长 char 数组，这样才不用为每个 key 单独分配堆内存，同时也天然防御了「超长 key 越界写」这类攻击。</a:t>
            </a:r>
          </a:p>
          <a:p/>
          <a:p>
            <a:r>
              <a:t>【下半部分：常用 KV 键值表】这张表是实用价值最高的一页，因为调试 GGUF 文件时查的就是这些键。</a:t>
            </a:r>
          </a:p>
          <a:p>
            <a:r>
              <a:t>general.architecture 决定加载器用哪套架构代码，值可能是 llama、qwen2、mistral、phi3；</a:t>
            </a:r>
          </a:p>
          <a:p>
            <a:r>
              <a:t>xxx.context_length 是最大上下文窗口，决定单次输入输出的长度上限；</a:t>
            </a:r>
          </a:p>
          <a:p>
            <a:r>
              <a:t>xxx.embedding_length 是隐藏层维度，也就是模型宽度；</a:t>
            </a:r>
          </a:p>
          <a:p>
            <a:r>
              <a:t>tokenizer.model 决定文本转 token 的规则。</a:t>
            </a:r>
          </a:p>
          <a:p/>
          <a:p>
            <a:r>
              <a:t>注意这里的 xxx 是架构名——`qwen2.context_length` 而不是 `llama.context_length`，这是 GGUF 支持新架构而不改格式的关键：新架构只用加自己的前缀键，文件头一个字都不用改。</a:t>
            </a:r>
          </a:p>
          <a:p/>
          <a:p>
            <a:r>
              <a:t>【讲解建议】可以用一个真实命令来收尾：用 llama-gguf 工具 dump 一个模型，让听众看到这些键真实的样子。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【上半部分：为什么默认 32 字节对齐】这不是随便定的数字，它是三条约束的交汇点。</a:t>
            </a:r>
          </a:p>
          <a:p/>
          <a:p>
            <a:r>
              <a:t>约束一，mmap 零拷贝。张量数据起始地址按 32 字节对齐后，文件映射到内存时张量地址天然对齐，避免了 CPU 访问未对齐内存的性能惩罚——在某些 ARM 平台上，未对齐访问甚至会直接触发异常。</a:t>
            </a:r>
          </a:p>
          <a:p/>
          <a:p>
            <a:r>
              <a:t>约束二，SIMD 友好。NEON 和 AVX 一次加载 16 到 64 字节，对齐保证了向量化反量化计算不会跨界。量化反量化是 GGUF 推理的热点路径，这里对齐带来的收益非常直接。</a:t>
            </a:r>
          </a:p>
          <a:p/>
          <a:p>
            <a:r>
              <a:t>约束三，位运算取模。当对齐值是 2 的幂时，GGML_PAD 可以用 `(x+align-1) &amp; ~(align-1)` 完成，零成本；如果允许任意对齐值，就要做除法取模，在热点路径上代价太高。这就是为什么 general.alignment 可调但必须为 2 的幂，而且是读写双侧校验。</a:t>
            </a:r>
          </a:p>
          <a:p/>
          <a:p>
            <a:r>
              <a:t>【下半部分：与旧 GGML 的对比】左旧右新，三组对照。</a:t>
            </a:r>
          </a:p>
          <a:p>
            <a:r>
              <a:t>结构上：旧格式张量信息与数据紧绑，难以高效 mmap；GGUF 三区分离，元数据 KB 级先行解析。</a:t>
            </a:r>
          </a:p>
          <a:p>
            <a:r>
              <a:t>扩展性上：旧格式缺独立元数据区，新增架构要改文件头，官方已停止维护；GGUF 是可扩展 KV，新增架构超参零格式改动，而且有版本化演进。</a:t>
            </a:r>
          </a:p>
          <a:p>
            <a:r>
              <a:t>加载方式上：旧格式无法按需加载，启动要读整个文件；GGUF 是 mmap 按页惰性加载，启动只读元数据，权重页错误时才读盘。</a:t>
            </a:r>
          </a:p>
          <a:p/>
          <a:p>
            <a:r>
              <a:t>【一句话总结这一页】GGUF 相对旧 GGML 的本质升级，是把「格式」从一个整体拆成了三层：元数据层、描述符层、数据层，每层各自对齐、各自可演进。</a:t>
            </a:r>
          </a:p>
          <a:p/>
          <a:p>
            <a:r>
              <a:t>【讲解建议】这一页是承上启下的，讲完格式规范就可以进入第 03 章的代码结构了。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【这一页的作用】前面讲了格式长什么样，现在进入代码。这张图把 gguf.cpp 的代码组织成一个五层金字塔，从上到下依赖，绝不反向。</a:t>
            </a:r>
          </a:p>
          <a:p/>
          <a:p>
            <a:r>
              <a:t>【逐层说明】</a:t>
            </a:r>
          </a:p>
          <a:p>
            <a:r>
              <a:t>最上面是应用层：llama.cpp 的 model-loader、gguf-py、convert_hf_to_gguf.py、gguf-split。这一层只管用，不管格式细节。</a:t>
            </a:r>
          </a:p>
          <a:p>
            <a:r>
              <a:t>第二层是 API 层：from_file / from_buffer / from_callback 三个入口，加上查询接口、动态修改 API 和 gguf_write_to_file。这一层定义了「外界能做什么」。</a:t>
            </a:r>
          </a:p>
          <a:p>
            <a:r>
              <a:t>第三层是核心层：gguf_init_from_reader 完成七阶段解析，gguf_write_out 完成序列化。这是真正的格式逻辑所在，也是后面两页要展开的内容。</a:t>
            </a:r>
          </a:p>
          <a:p>
            <a:r>
              <a:t>第四层是抽象层：gguf_reader 输入回调和 gguf_writer_base 输出虚基类。它把「文件、内存、网络、RPC、加密流」的差异全部吸收掉，核心层因此完全不知道 IO 是什么。</a:t>
            </a:r>
          </a:p>
          <a:p>
            <a:r>
              <a:t>最底层是数据层：gguf_kv、gguf_tensor_info、gguf_context，加上 alignment/offset/size 三个几何字段。</a:t>
            </a:r>
          </a:p>
          <a:p/>
          <a:p>
            <a:r>
              <a:t>【右侧四条分层原则】这是理解整个代码库的钥匙：</a:t>
            </a:r>
          </a:p>
          <a:p>
            <a:r>
              <a:t>① 向下依赖单向：应用层→API→核心→抽象→数据，绝不反向。所以核心层不会 include 应用层的东西。</a:t>
            </a:r>
          </a:p>
          <a:p>
            <a:r>
              <a:t>② IO 在最边缘：这是「依赖倒置」的经典应用。新介质只需要实现一个回调，核心解析逻辑零改动。</a:t>
            </a:r>
          </a:p>
          <a:p>
            <a:r>
              <a:t>③ 格式同构：字节布局与内存结构一一映射，读写互为逆过程。这个原则在第 03 章的数据结构里会看得很清楚。</a:t>
            </a:r>
          </a:p>
          <a:p>
            <a:r>
              <a:t>④ 纯 C 边界：跨语言 FFI 只暴露数据层的句柄，不暴露 C++ 类型。</a:t>
            </a:r>
          </a:p>
          <a:p/>
          <a:p>
            <a:r>
              <a:t>【讲解建议】强调「IO 在最边缘」这一条，因为它是 gguf.cpp 能同时支持文件和内存两种加载的全部秘密。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【这一页是新增内容】v1 里对 Header 有逐字段的解释，v2 只在格式规范里带过，这里补一页专门讲清楚四个字段各自的作用与设计理由。</a:t>
            </a:r>
          </a:p>
          <a:p/>
          <a:p>
            <a:r>
              <a:t>【结构定义】gguf_header 只有四个字段，共 24 字节：</a:t>
            </a:r>
          </a:p>
          <a:p>
            <a:r>
              <a:t>magic 是 4 字节魔数，值是 ASCII 的 "GGUF"，也就是 0x46554747。</a:t>
            </a:r>
          </a:p>
          <a:p>
            <a:r>
              <a:t>version 是 4 字节版本号，目前主流是 v3。</a:t>
            </a:r>
          </a:p>
          <a:p>
            <a:r>
              <a:t>n_tensors 和 n_kv 各 8 字节，分别是张量数量和 KV 数量。</a:t>
            </a:r>
          </a:p>
          <a:p/>
          <a:p>
            <a:r>
              <a:t>【为什么定长这么重要】因为定长，解析器读完这 24 字节就能确定三个关键位置：KV 区的起点、张量描述符区的起点、以及数据段的起点。这直接支撑了「单遍顺序读取」和「偏移可预计算」两个特性。</a:t>
            </a:r>
          </a:p>
          <a:p/>
          <a:p>
            <a:r>
              <a:t>【magic 的作用】文件身份的唯一标识，是安全加载的第一道关卡。加载器首要校验这个值，不是 "GGUF" 就直接判定为非法文件并返回。这挡住了「格式混淆」攻击——把别的格式的文件改名成 .gguf 会被立刻识别。</a:t>
            </a:r>
          </a:p>
          <a:p/>
          <a:p>
            <a:r>
              <a:t>【version 的作用】主流是 v3。相比 v2，v3 支持更多量化格式（比如 Q4_K_M）并对张量对齐做了优化。版本号决定了文件的解析规则、兼容性范围与功能支持。更重要的是：version 还兼作字节序哨兵——如果是大端机器生成的文件，在小端机上读出来低 16 位会是 0，解析器据此判定字节序错误并提前拦截，而不是继续解析出一堆垃圾数据。</a:t>
            </a:r>
          </a:p>
          <a:p/>
          <a:p>
            <a:r>
              <a:t>【n_tensors 的作用】模型权重参数张量的总个数，涵盖 Transformer 的所有核心层——q_proj、k_proj、o_proj、ffn_gate、ffn_down 等等。它决定了后续要循环读取多少次张量描述符，也决定了内存在张量骨架上的分配规模。</a:t>
            </a:r>
          </a:p>
          <a:p/>
          <a:p>
            <a:r>
              <a:t>【n_kv 的作用】元数据条目数量，包含架构名、量化类型、上下文窗口、词表等关键配置。</a:t>
            </a:r>
          </a:p>
          <a:p>
            <a:r>
              <a:t>注意：n_tensors 和 n_kv 都是不可信输入，解析器必须对它们做上界检查（这就是第 05 章的 L3 防御）。</a:t>
            </a:r>
          </a:p>
          <a:p/>
          <a:p>
            <a:r>
              <a:t>【讲解建议】这一页可以配合一个 hexdump 截图讲，让听众看到真实的 24 字节。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【这一页是 gguf.h 的全部家底】四个结构体，分别对应前面讲的四层职责。建议按「先看字段、再讲为什么」的方式过。</a:t>
            </a:r>
          </a:p>
          <a:p/>
          <a:p>
            <a:r>
              <a:t>【gguf_kv：元数据项】它是 KV 区在内存里的表示。key 是定长 char[64]，type 是 12 种枚举之一，narr 是数组元素数，data 和 buf 是两条存储通道。</a:t>
            </a:r>
          </a:p>
          <a:p>
            <a:r>
              <a:t>这里最值得讲的是设计决策：为什么用双 vector 而不是 union 或 variant？因为要序列化同构，而且异常安全——union 管理非平凡类型（比如 std::string、std::vector）的析构是个难题，C++ 标准上要手写 placement new 和显式析构，很容易出 bug。双 vector 虽然浪费一点内存，但实现简单、不会泄漏。</a:t>
            </a:r>
          </a:p>
          <a:p/>
          <a:p>
            <a:r>
              <a:t>【gguf_context：上下文容器】这是整个格式的「总句柄」，也是跨语言 FFI 暴露的那个对象。</a:t>
            </a:r>
          </a:p>
          <a:p>
            <a:r>
              <a:t>version 是版本；offset / size / alignment 是三个几何字段，我称之为「文件地图」——offset 是数据段绝对偏移，size 是数据段总字节数，alignment 是对齐值。这三个字段加上每个张量的 relative offset，就能算出任意张量在文件中的绝对位置。</a:t>
            </a:r>
          </a:p>
          <a:p>
            <a:r>
              <a:t>kv 和 info 两个 vector 分别装元数据和张量描述符。</a:t>
            </a:r>
          </a:p>
          <a:p>
            <a:r>
              <a:t>为什么这三个几何字段支撑 gguf-split 分片？因为分片后张量的坐标公式依然成立——只要记录每个分片的数据段 offset，就能把全局偏移映射到具体分片。</a:t>
            </a:r>
          </a:p>
          <a:p/>
          <a:p>
            <a:r>
              <a:t>【gguf_tensor_info：张量描述符】name 是张量名（如 blk.0.attn_q.weight），n_dims 是不超过 4 的维度数，ne[4] 是各维元素数，offset 是相对数据段起点的偏移。</a:t>
            </a:r>
          </a:p>
          <a:p>
            <a:r>
              <a:t>注意最关键的一点：它内嵌了一个完整的 ggml_tensor，而不是自己定义一套轻量结构。为什么？单一权威实现原则——形状到步长到字节数的推导，只在 ggml.c 里存在一份。如果 GGUF 自己再实现一遍，两套代码就会有细微差异，历史上一堆偏移类 bug 都源于此（尤其是量化的 nbytes 折算）。</a:t>
            </a:r>
          </a:p>
          <a:p/>
          <a:p>
            <a:r>
              <a:t>【gguf_reader：输入抽象】这是「IO 在最边缘」的落地。它只有一个回调函数指针、一个绝对偏移、一个剩余可读字节数。支持任意介质：文件、内存、网络、RPC、加密流。新介质只需实现一个回调，核心解析零改动。</a:t>
            </a:r>
          </a:p>
          <a:p>
            <a:r>
              <a:t>注意 nbytes_remain 这个字段——它是「先验检查」，加上后面的 GGML_ASSERT「后验检查」，构成双层防护，这是第 05 章安全设计的基石之一。</a:t>
            </a:r>
          </a:p>
          <a:p/>
          <a:p>
            <a:r>
              <a:t>【讲解建议】这一页是纯代码页，建议每讲一个结构体就回到第 08 章的分层图上指一下它属于哪一层。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【这一页是全篇的主干】gguf_init_from_reader 是 gguf.cpp 里最核心的函数，它把文件解析拆成七个有明确边界的阶段。请重点强调：这是「单遍顺序读取」——从头读到尾，不回头，中间任何一步都不可能 seek 回前面。这个约束决定了整个格式的设计。</a:t>
            </a:r>
          </a:p>
          <a:p/>
          <a:p>
            <a:r>
              <a:t>【阶段①：校验 Magic】读 4 个字节，必须等于 "GGUF"，否则直接失败。这是最廉价也最有效的防御。</a:t>
            </a:r>
          </a:p>
          <a:p/>
          <a:p>
            <a:r>
              <a:t>【阶段②：Header 与版本】版本要做三重检查。这里有个巧妙的技巧：如果 version 的低 16 位是 0，就判定这是大端机器生成的文件，直接拦截。为什么这个启发式有效？因为字节序翻转后，v3 的 0x00000003 会变成 0x03000000，低 16 位正好是 0。</a:t>
            </a:r>
          </a:p>
          <a:p/>
          <a:p>
            <a:r>
              <a:t>【阶段③：KV 反序列化】循环 n_kv 次。每次读 key（要做查重，重复 key 直接失败）、读 type、再按 type 分发读取 payload。这一阶段有两道长度上限：字符串长度不超过 1GB，数组项数不超过 10 亿项。这两个上限看起来很大，但它们的意义是「挡住会让 int 溢出的荒谬值」。</a:t>
            </a:r>
          </a:p>
          <a:p/>
          <a:p>
            <a:r>
              <a:t>【阶段④：读取 alignment】从 general.alignment 这个键读取对齐值。如果没有这个键，用默认值 32。关键约束：必须是 2 的幂，否则拒绝。</a:t>
            </a:r>
          </a:p>
          <a:p/>
          <a:p>
            <a:r>
              <a:t>【阶段⑤：张量描述符】循环 n_tensors 次。这是校验最密集的阶段：name 不超过 64 字节且要查重、n_dims 不超过 4、维度乘积要用除法链防溢出、type 必须在合法的 ggml_type 范围内、还有 ne[0] 必须能被 blck_size 整除（量化张量的硬约束）。</a:t>
            </a:r>
          </a:p>
          <a:p/>
          <a:p>
            <a:r>
              <a:t>【阶段⑥：对齐与强校验】把读取位置 pad 到 alignment 的整数倍，定位数据段起点。然后是整个流程里最强的一条校验：每个张量的 offset 必须恰好等于前面所有张量 size 的累计和。换句话说，数据段里不允许有空洞、也不允许有重叠。这条校验一旦通过，后面做 mmap 时访问任何一个张量的数据都不会越界。</a:t>
            </a:r>
          </a:p>
          <a:p/>
          <a:p>
            <a:r>
              <a:t>【阶段⑦：条件实例化】根据调用参数走三条路径：如果 params.ctx 是 NULL，就只解析元数据，不建张量；如果 no_alloc 为真，只建张量骨架，data 指针留空——这是 mmap 主路径；否则就把权重数据真正读进内存。</a:t>
            </a:r>
          </a:p>
          <a:p/>
          <a:p>
            <a:r>
              <a:t>【底部结论】全部成功才返回 gguf_context*；任何阶段失败都是 gguf_free + return nullptr。读取路径采用 fail-fast 风格，因为面对的是不可信输入，失败是预期分支而不是异常事件。</a:t>
            </a:r>
          </a:p>
          <a:p/>
          <a:p>
            <a:r>
              <a:t>【讲解建议】这一页是重点，建议至少讲 5 分钟。可以用「每阶段失败会怎样」来串，让听众理解纵深防御。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【这一页回答一个问题】GGUF 号称能做到「启动延迟与模型大小解耦」，70B 模型启动也只读几 KB。这是怎么做到的？答案是 no_alloc 两阶段加载协议。</a:t>
            </a:r>
          </a:p>
          <a:p/>
          <a:p>
            <a:r>
              <a:t>【左列：llama-model-loader 侧的动作】</a:t>
            </a:r>
          </a:p>
          <a:p>
            <a:r>
              <a:t>第一步，用 no_alloc=true 调用 gguf_init_from_file。注意这个参数——它告诉解析器「不要读权重」。</a:t>
            </a:r>
          </a:p>
          <a:p>
            <a:r>
              <a:t>第二步，拿到 gguf_context* 和一整套张量骨架。所谓骨架，就是张量的形状、类型、偏移都有了，但 data 指针是 nullptr，没有任何实际数据被读进内存。</a:t>
            </a:r>
          </a:p>
          <a:p>
            <a:r>
              <a:t>第三步，mmap(file) 把整个文件映射到进程虚拟地址空间。这一步只建立映射，不发生物理拷贝。</a:t>
            </a:r>
          </a:p>
          <a:p>
            <a:r>
              <a:t>第四步，给每个张量指路：tensor-&gt;data = file_addr + offset + info[i].offset。也就是「文件基址 + 数据段起点 + 该张量的相对偏移」。</a:t>
            </a:r>
          </a:p>
          <a:p>
            <a:r>
              <a:t>第五步，推理期按页惰性加载——真正用到某一页时，操作系统才通过缺页中断把那一页读进内存。</a:t>
            </a:r>
          </a:p>
          <a:p/>
          <a:p>
            <a:r>
              <a:t>【中列：gguf.cpp 侧做了什么】</a:t>
            </a:r>
          </a:p>
          <a:p>
            <a:r>
              <a:t>它顺序读了元数据区，也就是 KB 级的那些数据，然后返回三样东西：KV 列表、TensorInfo 列表、以及几何三字段（alignment / offset / size）。</a:t>
            </a:r>
          </a:p>
          <a:p>
            <a:r>
              <a:t>当 no_alloc=true 时，它只建张量骨架，data 指向 nullptr。</a:t>
            </a:r>
          </a:p>
          <a:p>
            <a:r>
              <a:t>一个容易忽略的细节：此时 mem_size 只算张量结构体的开销，也就是 n × tensor_overhead，不包含任何权重字节。这是内存占用能降到 KB 级的关键。</a:t>
            </a:r>
          </a:p>
          <a:p/>
          <a:p>
            <a:r>
              <a:t>【右列：OS 与磁盘侧】</a:t>
            </a:r>
          </a:p>
          <a:p>
            <a:r>
              <a:t>操作系统只读文件头部的若干页——注意是「若干页」，不是整个文件。</a:t>
            </a:r>
          </a:p>
          <a:p>
            <a:r>
              <a:t>mmap 建立虚拟映射，此时不发生物理拷贝。</a:t>
            </a:r>
          </a:p>
          <a:p>
            <a:r>
              <a:t>只有当程序真正访问某个地址触发页错误时，OS 才把对应的那一页从磁盘读入内存。</a:t>
            </a:r>
          </a:p>
          <a:p/>
          <a:p>
            <a:r>
              <a:t>【底部收益】三条：</a:t>
            </a:r>
          </a:p>
          <a:p>
            <a:r>
              <a:t>第一，启动延迟与模型大小解耦——70B 模型启动也只读几 KB 元数据。</a:t>
            </a:r>
          </a:p>
          <a:p>
            <a:r>
              <a:t>第二，内存占用等于页缓存按需增长，而不是一次性吃掉全量。</a:t>
            </a:r>
          </a:p>
          <a:p>
            <a:r>
              <a:t>第三，多进程可以共享同一份物理页——比如同时跑多个推理实例，权重在物理内存里只有一份。</a:t>
            </a:r>
          </a:p>
          <a:p/>
          <a:p>
            <a:r>
              <a:t>【讲解建议】这一页可以和听众互动：「如果我要在一个 8GB 内存的机器上跑 70B 模型，传统方式做不到，但用 GGUF + mmap 可以——因为内存里只有正在用的那部分页。」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【这一页的框架】前面几页都在讲「读」，这一页讲「写」。关键认知是：写入是解析的逆过程，而且是一步一步严格对偶的。你只要记住解析的七个阶段，写入就是把它反过来走一遍。</a:t>
            </a:r>
          </a:p>
          <a:p/>
          <a:p>
            <a:r>
              <a:t>【六个写入阶段，与解析对偶】</a:t>
            </a:r>
          </a:p>
          <a:p>
            <a:r>
              <a:t>① 写 Header："GGUF" + version + n_tensors + n_kv，对应解析阶段①和②。</a:t>
            </a:r>
          </a:p>
          <a:p>
            <a:r>
              <a:t>② 写 KV 区：对每个 kv 调用 write(gguf_kv)，对应解析阶段③。</a:t>
            </a:r>
          </a:p>
          <a:p>
            <a:r>
              <a:t>③ 写张量元信息：对每个 info 写 name + n_dims + ne + type + offset，对应解析阶段⑤。</a:t>
            </a:r>
          </a:p>
          <a:p>
            <a:r>
              <a:t>④ 对齐：pad 到 alignment，然后记录 offset_data = written_bytes。对应解析阶段⑥。</a:t>
            </a:r>
          </a:p>
          <a:p>
            <a:r>
              <a:t>⑤ 判断 only_meta：如果只要元数据，到这里就返回。这个参数是给 gguf-split 用的——分片写入时需要先写元数据，后续再追加数据。</a:t>
            </a:r>
          </a:p>
          <a:p>
            <a:r>
              <a:t>⑥ 写张量数据：这里有个重要分支——如果 t.buffer 存在（也就是张量在 GPU 上），要从后端把数据拉回来；否则直接 memcpy(t.data)。写完每个张量还要逐块 pad。</a:t>
            </a:r>
          </a:p>
          <a:p/>
          <a:p>
            <a:r>
              <a:t>【两个实现技巧】</a:t>
            </a:r>
          </a:p>
          <a:p>
            <a:r>
              <a:t>技巧一，三段式写入：gguf_get_meta_size / gguf_get_meta_data 支持「占位 → 写权重数据 → 回填元数据」。为什么需要这个？因为转换工具在流式写权重的时候，还不知道最终的元数据有多大——比如分词器词表得全部转换完才知道总长度。所以先占个位，等元数据确定后再回填。</a:t>
            </a:r>
          </a:p>
          <a:p>
            <a:r>
              <a:t>技巧二，writer 模板去虚化：gguf_write_out&lt;writer_t&gt; 用模板参数实例化，这样编译器可以把虚调用去虚化，高频的 write(int8_t) 接近零开销抽象。这是 C++ 里「既想要接口抽象又想要零开销」的经典手法。</a:t>
            </a:r>
          </a:p>
          <a:p/>
          <a:p>
            <a:r>
              <a:t>【错误处理】磁盘失败抛出 runtime_error，在最外层 catch 转成 bool 返回值。这就呼应了后面的「为什么读用返回值、写用异常」——写路径的失败是罕见事件，而且要跨多层模板调用栈，用返回值会污染所有签名。</a:t>
            </a:r>
          </a:p>
          <a:p/>
          <a:p>
            <a:r>
              <a:t>【讲解建议】这一页可以和第 11 页对照着讲，强调「对偶」二字。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【这一页是从「使用方」看 GGUF】前面几页都是 gguf.cpp 内部的视角，这一页换成 llama.cpp 的视角：拿到一个 .gguf 文件后，它是怎么把这个文件变成一个能跑起来的模型的。</a:t>
            </a:r>
          </a:p>
          <a:p/>
          <a:p>
            <a:r>
              <a:t>【第一步：文件校验与解析】打开 GGUF 文件，读取 Header，严格校验魔数 "GGUF"，确保文件格式合法完整。这一步失败了后面都不用谈。</a:t>
            </a:r>
          </a:p>
          <a:p/>
          <a:p>
            <a:r>
              <a:t>【第二步：元数据与张量读取】解析模型架构、层数、隐藏维度等关键元数据，然后遍历读取所有张量的名称、形状、量化类型。注意这一步读的是「描述」不是「数据」。</a:t>
            </a:r>
          </a:p>
          <a:p/>
          <a:p>
            <a:r>
              <a:t>【第三步：内存映射 mmap】这是最关键的一步。通过 mmap 系统调用把整个 GGUF 文件映射到进程的虚拟地址空间，建立磁盘与内存的直接关联。强调：这一步只建立映射关系，不发生任何物理数据拷贝。</a:t>
            </a:r>
          </a:p>
          <a:p/>
          <a:p>
            <a:r>
              <a:t>【第四步：构建计算图上下文】创建 ggml_context 环境，初始化计算图，并把每个张量的数据指针直接指向内存映射区域中对应的偏移位置。</a:t>
            </a:r>
          </a:p>
          <a:p/>
          <a:p>
            <a:r>
              <a:t>【第五步：零拷贝数据引用】因为第四步已经让张量指针指向了映射区，所以不需要把数据从磁盘复制到内存——直接通过指针访问即可。这就消除了冗余的内存拷贝开销。这是 GGUF 相对传统格式最大的性能优势之一。</a:t>
            </a:r>
          </a:p>
          <a:p/>
          <a:p>
            <a:r>
              <a:t>【第六步：按需推理与加载】推理过程中，当访问到尚未加载的页时触发缺页中断，操作系统自动把所需数据从磁盘加载到物理内存。整个过程对应用完全透明。</a:t>
            </a:r>
          </a:p>
          <a:p/>
          <a:p>
            <a:r>
              <a:t>【底部核心优势】全程无内存拷贝，权重数据直接从磁盘映射到内存空间，大幅降低 IO 开销，显著提升大模型的启动速度与运行性能。</a:t>
            </a:r>
          </a:p>
          <a:p/>
          <a:p>
            <a:r>
              <a:t>【讲解建议】这一页可以和 no_alloc 那页对照：那一页讲协议，这一页讲 llama.cpp 怎么用这个协议。两者是同一个机制的两种视角。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【这一页回答「为什么 GGUF 是安全的」】先说威胁模型。GGUF 文件来自不可信来源——模型分享站、网盘下载、别人发给你的文件。而元数据解析发生在任何用户交互之前，并且元数据里的「长度」和「数量」字段会直接驱动内存分配。这就是 OOM 攻击面：攻击者构造一个声称有 10 亿个张量的文件，解析器如果直接照着分配，进程就被打死。</a:t>
            </a:r>
          </a:p>
          <a:p/>
          <a:p>
            <a:r>
              <a:t>【核心哲学一句话】所有校验都发生在分配内存之前。这句话是十二层防御的总纲——畸形输入只会浪费解析阶段的几个 CPU 周期，永远不会触及内存分配器或者 mmap 映射器。</a:t>
            </a:r>
          </a:p>
          <a:p/>
          <a:p>
            <a:r>
              <a:t>【十二层逐条过】建议分四组讲：</a:t>
            </a:r>
          </a:p>
          <a:p>
            <a:r>
              <a:t>第一组（L1–L3）是文件级身份校验：L1 magic 校验，拦截格式混淆；L2 版本三重检查加字节序哨兵，拦截伪造版本和大端文件炸弹；L3 对 n_kv 和 n_tensors 做上界检查，确保不超过 SIZE_MAX/sizeof(struct)，拦截「声明十亿个张量导致 OOM」。</a:t>
            </a:r>
          </a:p>
          <a:p/>
          <a:p>
            <a:r>
              <a:t>第二组（L4–L6）是长度字段校验：L4 字符串长度不超过 1GB 且不超过剩余可读字节，拦截长度前缀欺骗导致的 resize OOM；L5 数组项数不超过 10 亿项并做溢出检查，拦截数组维度炸弹；L6 捕获 bad_alloc 转成布尔返回值，让分配失败优雅降级。</a:t>
            </a:r>
          </a:p>
          <a:p/>
          <a:p>
            <a:r>
              <a:t>第三组（L7–L9）是张量描述符校验：L7 张量名长度必须小于 GGML_MAX_NAME（64），拦截越界写 name[64]；L8 每一维都必须非负，而且乘积要用除法链而不是直接乘，拦截整型回绕导致的巨大 nbytes；L9 校验 ggml_type 在合法范围内且 ne[0] 能被 blck_size 整除，拦截非法量化类型。</a:t>
            </a:r>
          </a:p>
          <a:p/>
          <a:p>
            <a:r>
              <a:t>第四组（L10–L12）是全局一致性校验：L10 对齐值必须是 2 的幂，而且是读写双侧校验，防止位运算取模失效；L11 数据段偏移连续性强校验——每个张量的 offset 必须等于前面累计的和，拦截空洞和重叠导致的越界映射；L12 SIZE_MAX 累加溢出检查，拦截总尺寸回绕。</a:t>
            </a:r>
          </a:p>
          <a:p/>
          <a:p>
            <a:r>
              <a:t>【讲解建议】这一页是安全主题，可以强调：这不是「加了几条检查」这么简单，而是一套分层设计——每一层挡住一类攻击，即使某一层被绕过，后面还有兜底。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【这一页的方法论】讲设计最好的方式不是「它做了什么」，而是「如果不这样做会怎样」。这一页用五个反转思考来展开 GGUF 的关键决策。</a:t>
            </a:r>
          </a:p>
          <a:p/>
          <a:p>
            <a:r>
              <a:t>【决策一：为什么元数据前置、数据后置？】</a:t>
            </a:r>
          </a:p>
          <a:p>
            <a:r>
              <a:t>反过来想：如果数据在前、元数据在后，解析器就必须先 seek 到文件尾去读目录，类似 ZIP 的 central directory。这会带来两个问题：一是解析变成两次遍历，mmap 的偏移计算复杂化；二是流式介质（网络流、管道）根本没法回读，格式直接不可用。元数据前置让解析器只需单遍顺序读取就能完成全部解析——这就是我们前面反复强调的「单遍」。</a:t>
            </a:r>
          </a:p>
          <a:p/>
          <a:p>
            <a:r>
              <a:t>【决策二：为什么版本检查要做字节序启发式？】</a:t>
            </a:r>
          </a:p>
          <a:p>
            <a:r>
              <a:t>如果不做，一个在大端机器上生成的 GGUF 文件被小端机器打开，version 字段读出来是 0x03000000。解析器会继续往下走，然后读出一个完全错误的 n_kv，报出一堆让人困惑的错误。用版本字段兼作字节序哨兵（判断 (version &amp; 0xFFFF) == 0），就能把错误定位提前到第一个字段，报错信息一下子清晰了。</a:t>
            </a:r>
          </a:p>
          <a:p/>
          <a:p>
            <a:r>
              <a:t>【决策三：为什么读取 fail-fast 而写入用异常？】</a:t>
            </a:r>
          </a:p>
          <a:p>
            <a:r>
              <a:t>这看起来不一致，但背后有明确逻辑。读路径面对的是不可信输入，失败是预期分支——每天都可能遇到坏文件，所以用返回值表达，调用方干净传播。写路径的磁盘失败是罕见事件，而且要跨越很多层模板调用栈，如果逐层返回错误码会污染所有函数签名。所以：异常用于「罕见、深层、跨多层」，返回值用于「常见、浅层」。</a:t>
            </a:r>
          </a:p>
          <a:p/>
          <a:p>
            <a:r>
              <a:t>【决策四：为什么 KV 查找不做索引优化？】</a:t>
            </a:r>
          </a:p>
          <a:p>
            <a:r>
              <a:t>加载期每个 key 只查一到两次；n_kv 在现实中上界小于 500 项，O(n) 扫描不到 1 毫秒。如果引入哈希索引，要额外内存、要排序约束、要维护增删一致性——全是成本，收益几乎为零。简单性赢。</a:t>
            </a:r>
          </a:p>
          <a:p/>
          <a:p>
            <a:r>
              <a:t>【决策五：为什么复用 ggml_tensor 而非独立描述符？】</a:t>
            </a:r>
          </a:p>
          <a:p>
            <a:r>
              <a:t>这是「单一权威实现」原则。形状→步长→字节数的推导只在 ggml.c 里存在一份。历史上偏移类 bug 大多源于两套实现的细微差异，尤其是量化张量的 nbytes 折算——这个折算很绕，两套代码几乎必然会写出不一样的结果。</a:t>
            </a:r>
          </a:p>
          <a:p/>
          <a:p>
            <a:r>
              <a:t>【讲解建议】这一页是「设计思维」页，适合放慢速度讲，因为它展示的是工程判断力。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【这一页的作用】上一页讲的是「为什么这么选」，这一页把「放弃了什么」列出来。工程上真正重要的不是选了什么，而是清楚自己放弃了什么代价。建议横向过一遍，重点讲三行。</a:t>
            </a:r>
          </a:p>
          <a:p/>
          <a:p>
            <a:r>
              <a:t>【内存表示】用 vector 保序 + O(n) 查找，放弃了 map 或哈希索引。理由是序列化顺序稳定比查询速度更重要，因为 n 小于 500。这一条和上一页的决策四呼应。</a:t>
            </a:r>
          </a:p>
          <a:p/>
          <a:p>
            <a:r>
              <a:t>【KV 值存储】双 vector 通道，放弃了 union 或 variant。收获是实现简单、序列化同构、异常安全。</a:t>
            </a:r>
          </a:p>
          <a:p/>
          <a:p>
            <a:r>
              <a:t>【张量描述】内嵌 ggml_tensor，放弃了独立轻量结构。收获是步长和字节数只有一份权威实现，杜绝了语义漂移——这一条我认为是整张表里价值最高的。</a:t>
            </a:r>
          </a:p>
          <a:p/>
          <a:p>
            <a:r>
              <a:t>【输入抽象】回调加绝对偏移，放弃了直接用 istream 或 FILE*。收获是支持随机 seek、任意介质、还能做分块限流。</a:t>
            </a:r>
          </a:p>
          <a:p/>
          <a:p>
            <a:r>
              <a:t>【输出抽象】虚基类加模板去虚化，放弃了纯模板或纯虚的二选一。收获是高层逻辑只有一份，同时热路径零虚开销——这是 C++ 里少见的「两头都要」的解法。</a:t>
            </a:r>
          </a:p>
          <a:p/>
          <a:p>
            <a:r>
              <a:t>【错误处理】读用返回值、写用异常，放弃了统一成一种。理由是输入不可信和输出跨层传播这两种语义本来就不同。</a:t>
            </a:r>
          </a:p>
          <a:p/>
          <a:p>
            <a:r>
              <a:t>【加载协议】no_alloc 两阶段，放弃了一次性全载。收获是 mmap 零拷贝和 O(元数据) 内存。</a:t>
            </a:r>
          </a:p>
          <a:p/>
          <a:p>
            <a:r>
              <a:t>【对齐】默认 32B 可调且必须是 2 的幂，放弃了固定 32B。收获是兼容 SIMD/DMA 又能用位运算取模，代价是引入了「必须是 2 的幂」这个约束和相应的校验。</a:t>
            </a:r>
          </a:p>
          <a:p/>
          <a:p>
            <a:r>
              <a:t>【前向兼容】严格拒绝新版本，放弃了尽力解析。收获是杜绝静默数据损坏——读出一个看似正常但实际错位的数据，比直接报错危险得多。</a:t>
            </a:r>
          </a:p>
          <a:p/>
          <a:p>
            <a:r>
              <a:t>【校验时机】分配前全量校验，放弃了分配后修正。收获是恶意输入零资源消耗。</a:t>
            </a:r>
          </a:p>
          <a:p/>
          <a:p>
            <a:r>
              <a:t>【讲解建议】这一页信息密度大，建议只重点讲「张量描述」「错误处理」「前向兼容」三行，其余让听众自己扫。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【这一页是量化的第一性原理】在讲 Q4_K_M 的具体结构之前，先讲清楚一个更本质的问题：为什么要把权重分块？</a:t>
            </a:r>
          </a:p>
          <a:p/>
          <a:p>
            <a:r>
              <a:t>【核心思想】把权重张量分割成多个独立的「块」，为每个块单独计算专属的缩放因子与偏移量。传统量化是对整个张量用一套全局参数，但真实权重的数值分布在不同区域差异很大——有的区域集中在 0 附近，有的区域跨度很大。用一套参数去套所有区域，必然有区域被牺牲掉。</a:t>
            </a:r>
          </a:p>
          <a:p/>
          <a:p>
            <a:r>
              <a:t>【好处一：更高的精度保留】为每个数据块定制最优缩放因子，精准适配其独特的数值分布。相比传统量化，在同等比特率下能有效降低模型困惑度（PPL），最大限度保留原始推理能力与准确性。</a:t>
            </a:r>
          </a:p>
          <a:p/>
          <a:p>
            <a:r>
              <a:t>【好处二：更强的数值稳定性】量化误差被严格限制在独立的小块范围内，避免了误差在整个权重张量中扩散和累积。这一特性有效抑制了数值漂移，确保模型在低精度量化场景下依然保持稳健的计算表现，避免结果发散。这一点在深层网络里尤其重要——误差会逐层放大。</a:t>
            </a:r>
          </a:p>
          <a:p/>
          <a:p>
            <a:r>
              <a:t>【好处三：硬件级效率优化】分块设计完美契合现代 CPU 的缓存架构。计算时可以把块内权重与量化参数批量载入高速缓存，大幅减少缓存未命中带来的性能开销，显著提升内存访问效率与整体推理速度。这也是为什么 Q4_K 的块大小是 256 和 32——这两个数字和 CPU 缓存行、SIMD 寄存器宽度是对得上的。</a:t>
            </a:r>
          </a:p>
          <a:p/>
          <a:p>
            <a:r>
              <a:t>【承上启下】下一页就开始讲 Q4_K_M 具体是怎么实现这个分块思想的：256 个权重组成超级块，再切成 8 个 32 权重的子块，一级全局缩放加一级局部缩放。</a:t>
            </a:r>
          </a:p>
          <a:p/>
          <a:p>
            <a:r>
              <a:t>【讲解建议】可以用一个直观的比喻：全局量化像用一把尺子量所有东西，分块量化像给每个区域配一把专用尺子。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【这一页是量化的核心】前面讲了为什么要分块，这一页讲 Q4_K 具体怎么分。</a:t>
            </a:r>
          </a:p>
          <a:p/>
          <a:p>
            <a:r>
              <a:t>【两级缩放架构】</a:t>
            </a:r>
          </a:p>
          <a:p>
            <a:r>
              <a:t>超级块（Super-block）：256 个权重为一组，共享两个 FP16 值——d（全局缩放尺度）和 dmin（全局最小值）。这两个值决定了这个超级块的整体动态范围。</a:t>
            </a:r>
          </a:p>
          <a:p>
            <a:r>
              <a:t>子块（Sub-block）：每个超级块再切成 8 个子块，每个子块 32 个权重，各有自己独立的 6-bit 缩放因子 sc 和 6-bit 偏移 m。</a:t>
            </a:r>
          </a:p>
          <a:p>
            <a:r>
              <a:t>有效乘数：子块的实际缩放是 d_sub = fp32(d) × sc，偏移是 m_sub = fp32(dmin) × m。注意 d 是 FP16，sc 是 6-bit 整数——两者相乘才得到子块的浮点缩放值。</a:t>
            </a:r>
          </a:p>
          <a:p>
            <a:r>
              <a:t>设计动机一句话：大动态范围交给 FP16，细分辨率交给 6-bit，两边都不吃亏。FP16 负责覆盖整个超级块的范围，6-bit 负责在块内做精细适配。</a:t>
            </a:r>
          </a:p>
          <a:p/>
          <a:p>
            <a:r>
              <a:t>【量化与反量化公式】</a:t>
            </a:r>
          </a:p>
          <a:p>
            <a:r>
              <a:t>量化：q = clamp(round((w + dm) / d), 0, 15)。把浮点权重 w 映射到 0~15 的 4-bit 整数。</a:t>
            </a:r>
          </a:p>
          <a:p>
            <a:r>
              <a:t>反量化：w = d·sc·q - dmin·m。反过来把 4-bit 码还原成浮点。</a:t>
            </a:r>
          </a:p>
          <a:p>
            <a:r>
              <a:t>注意反量化里是「减 m」而不是「加 m」。为什么？因为 scale 恒定为正，所以 6-bit 的值可以当无符号数用，不浪费符号位。这是一个很实在的位级优化。</a:t>
            </a:r>
          </a:p>
          <a:p/>
          <a:p>
            <a:r>
              <a:t>【字节构成】block_q4_K = d(2B) + dmin(2B) + scales(12B) + qs(128B) = 144 字节。</a:t>
            </a:r>
          </a:p>
          <a:p>
            <a:r>
              <a:t>验算一下：256 个权重用 144 字节存，所以是 144×8/256 = 4.5 bit/权重。</a:t>
            </a:r>
          </a:p>
          <a:p/>
          <a:p>
            <a:r>
              <a:t>【scales[12] 的打包技巧】这是最精妙的部分。8 个子块各有 scale 和 min 需要 6-bit，一共 16 个 6-bit 值 = 96 bit = 12 字节。但 6-bit 不是字节对齐的，怎么塞进 12 字节？</a:t>
            </a:r>
          </a:p>
          <a:p>
            <a:r>
              <a:t>做法是：前 8 个字节各放一个「低 4 位」，高 2 位则「借位」藏进其他字节的 bit 6-7。</a:t>
            </a:r>
          </a:p>
          <a:p>
            <a:r>
              <a:t>看代码：当 j &lt; 4 时直接写低 6 位；当 j &gt;= 4 时，把低 4 位和一个高 2 位拼在一起，再把剩下的高 2 位挪到前面的字节里去。这就是注释里说的「低 4bit 装满前 8 字节，高 2bit 藏进各字节 bit6-7」。</a:t>
            </a:r>
          </a:p>
          <a:p/>
          <a:p>
            <a:r>
              <a:t>【qs[128] 的打包】256 个 4-bit 值，每字节装 2 个，所以是 128 字节。</a:t>
            </a:r>
          </a:p>
          <a:p>
            <a:r>
              <a:t>打包方式：q[l] = L[j+l] | (L[j+l+32] &lt;&lt; 4)。也就是低半字节是权重 0~31，高半字节是权重 32~63。</a:t>
            </a:r>
          </a:p>
          <a:p>
            <a:r>
              <a:t>反量化时对应的操作是「低 = q &amp; 0xF，高 = q &gt;&gt; 4」，各 32 个一组。这个交错布局是为了配合 SIMD 指令——一次加载可以同时拿到两组的低半字节。</a:t>
            </a:r>
          </a:p>
          <a:p/>
          <a:p>
            <a:r>
              <a:t>【讲解建议】这一页技术密度最高，建议对照 q4_k_m-quantization-animation.html 那个动画一起讲。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【这一页回答「M 到底做了什么」】前面讲的 Q4_K 是同一种量化格式，而 Q4_K_M 里的 M 代表 Medium，是 llama-quantize 工具内置的一套「预设配方」——它规定了哪些张量用哪个精度。</a:t>
            </a:r>
          </a:p>
          <a:p/>
          <a:p>
            <a:r>
              <a:t>【配方表，逐行讲】</a:t>
            </a:r>
          </a:p>
          <a:p>
            <a:r>
              <a:t>第一行：token_embd 和 output（嵌入层与输出头）用 Q6_K，6.56 bit/权重。为什么升级？因为这两个张量的误差会被所有 token 放大——嵌入表是每个 token 都要查的，输出头决定了整个词表的概率分布。</a:t>
            </a:r>
          </a:p>
          <a:p/>
          <a:p>
            <a:r>
              <a:t>第二行：attn_v（部分架构还包括 attn_k）用 Q6_K 或 Q8_0。为什么？因为 V 和 K 对权重扰动比 Q 更敏感——注意力里 Q 只参与打分，而 V 直接携带被聚合的信息，K 决定匹配模式。</a:t>
            </a:r>
          </a:p>
          <a:p/>
          <a:p>
            <a:r>
              <a:t>第三行：attn_q、ffn 等主体张量（约占 90% 的参数）用 Q4_K，4.5 bit/权重。为什么可以压这么狠？因为这些张量数值鲁棒，而且两级缩放已经把误差压得很低了。</a:t>
            </a:r>
          </a:p>
          <a:p/>
          <a:p>
            <a:r>
              <a:t>【体积对比图】这部分很直观，建议让听众看长度比例。</a:t>
            </a:r>
          </a:p>
          <a:p>
            <a:r>
              <a:t>7B 模型的 F32 是 28 GB（32 bpw）；F16 是 14 GB（16 bpw）；Q8_0 是 7.4 GB（8.5 bpw）；Q6_K 是 5.9 GB（6.56 bpw）；Q4_K_M 是 4.1 GB，约 4.8 bpw。</a:t>
            </a:r>
          </a:p>
          <a:p>
            <a:r>
              <a:t>可以看出 Q4_K_M 的条只有 F16 的不到三分之一长。</a:t>
            </a:r>
          </a:p>
          <a:p/>
          <a:p>
            <a:r>
              <a:t>【右侧结论】Q4_K_M 以约 15% 的 F16 体积，保持了接近 Q8 的质量。它处在体量与精度的甜点位上——比 Q4_K_S 大约 10%，但困惑度明显更优。这就是为什么社区里绝大多数模型默认发布 Q4_K_M 版本。</a:t>
            </a:r>
          </a:p>
          <a:p/>
          <a:p>
            <a:r>
              <a:t>【讲解建议】这一页是实用价值最高的，可以直接告诉听众「下载模型优先选 Q4_K_M」。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【这一页讲「量化怎么跑得快」】前面讲的是数据怎么存，这一页讲数据怎么算。关键结论：FFI 层面的 C 实现只是参考，真正跑起来用的是 SIMD 优化版本。</a:t>
            </a:r>
          </a:p>
          <a:p/>
          <a:p>
            <a:r>
              <a:t>【三种优化手段】</a:t>
            </a:r>
          </a:p>
          <a:p>
            <a:r>
              <a:t>一、数据并行加载：利用 SIMD 指令一次性批量加载量化数据块，大幅减少内存访问次数，提升数据吞吐效率。这一点和前面讲的 qs 交错布局是对应的——交错存就是为了让一次加载取到两组数据。</a:t>
            </a:r>
          </a:p>
          <a:p>
            <a:r>
              <a:t>二、向量化反量化计算：在 CPU 寄存器层面并行处理多个数据的反量化与计算，充分利用硬件的并行计算能力。</a:t>
            </a:r>
          </a:p>
          <a:p>
            <a:r>
              <a:t>三、运算融合优化：把反量化、矩阵乘法等操作深度融合，减少中间结果的内存存储与读取，降低延迟。这是最重要的一个——如果先把整个块反量化成浮点再算，中间结果会占用大量内存带宽；融合之后，反量化的结果直接在寄存器里参与乘加，不落内存。</a:t>
            </a:r>
          </a:p>
          <a:p/>
          <a:p>
            <a:r>
              <a:t>【性能结论】相比纯 C 实现，效率提升 3 到 7 倍。这个数字在 CPU 推理场景里非常显著——意味着同样的硬件可以跑更大的模型，或者获得更快的 token 速度。</a:t>
            </a:r>
          </a:p>
          <a:p/>
          <a:p>
            <a:r>
              <a:t>【源码定位指南】这一块是给想深入研究的听众准备的：</a:t>
            </a:r>
          </a:p>
          <a:p>
            <a:r>
              <a:t>CPU 后端在 llama.cpp/ggml/src/ggml-cpu/，关键文件是 ops.cpp 和 ggml-cpu-quants.c。架构宏要看清楚：x86 查 AVX2 / AVX512，ARM 查 NEON。</a:t>
            </a:r>
          </a:p>
          <a:p>
            <a:r>
              <a:t>GPU 后端在 ggml-cuda/，包含 .cu 和 .cuh 文件，利用 NVIDIA GPU 的大规模并行能力。</a:t>
            </a:r>
          </a:p>
          <a:p>
            <a:r>
              <a:t>快速定位 Q4_K 核心逻辑的办法：在 ggml-cpu-quants.c 里搜索关键词 q4_k 或者 ggml_vec_dot_q4_K。</a:t>
            </a:r>
          </a:p>
          <a:p/>
          <a:p>
            <a:r>
              <a:t>【讲解建议】如果听众里有做性能优化的同学，可以强调「运算融合」这一条，因为它对推理延迟的影响最大。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【这一页的作用】前面所有理论，在这一页落到一个真实文件上。用的是阿里云通义千问 Qwen2 系列的 1.5B 指令模型，量化级别 Q4_K_M，非常适合在个人电脑、边缘设备等资源受限环境下部署。</a:t>
            </a:r>
          </a:p>
          <a:p/>
          <a:p>
            <a:r>
              <a:t>【① Header 基础信息】</a:t>
            </a:r>
          </a:p>
          <a:p>
            <a:r>
              <a:t>magic = "GGUF"，也就是 0x46554747；version = 3；n_tensors = 206；n_kv = 32。</a:t>
            </a:r>
          </a:p>
          <a:p>
            <a:r>
              <a:t>也就是说这个模型有 206 个核心张量、32 条元数据。</a:t>
            </a:r>
          </a:p>
          <a:p>
            <a:r>
              <a:t>注意注释：Header 定长 24 字节，读完就可以直接 seek 到 KV 区。</a:t>
            </a:r>
          </a:p>
          <a:p/>
          <a:p>
            <a:r>
              <a:t>【② 关键元数据 KV 解析】这里挑几条最有代表性的：</a:t>
            </a:r>
          </a:p>
          <a:p>
            <a:r>
              <a:t>general.architecture = "qwen2"，告诉加载器用 qwen2 架构；</a:t>
            </a:r>
          </a:p>
          <a:p>
            <a:r>
              <a:t>general.name = "qwen2-1.5b-instruct"；</a:t>
            </a:r>
          </a:p>
          <a:p>
            <a:r>
              <a:t>qwen2.context_length = 32768，上下文窗口 32K；</a:t>
            </a:r>
          </a:p>
          <a:p>
            <a:r>
              <a:t>qwen2.embedding_length = 1536，隐藏层维度 1536；</a:t>
            </a:r>
          </a:p>
          <a:p>
            <a:r>
              <a:t>qwen2.block_count = 28，28 层 Transformer；</a:t>
            </a:r>
          </a:p>
          <a:p>
            <a:r>
              <a:t>qwen2.attention.head_count = 12；</a:t>
            </a:r>
          </a:p>
          <a:p>
            <a:r>
              <a:t>tokenizer.ggml.model = "gpt2"，用 GPT-2 系的 BPE 分词器；</a:t>
            </a:r>
          </a:p>
          <a:p>
            <a:r>
              <a:t>tokenizer.ggml.tokens = ARRAY(151936)，词表 151936 个 token——注意这一条是 KV 区里体积最大的，但它仍然是 KB 到 MB 级，和权重不是一个量级。</a:t>
            </a:r>
          </a:p>
          <a:p>
            <a:r>
              <a:t>KV 区整体是 KB 级，单遍读完后即可开始构建模型骨架。</a:t>
            </a:r>
          </a:p>
          <a:p/>
          <a:p>
            <a:r>
              <a:t>【③ 张量列表节选】这是最能体现 Q4_K_M 混合策略的地方。</a:t>
            </a:r>
          </a:p>
          <a:p>
            <a:r>
              <a:t>token_embd.weight 和 output.weight 从 f32 转成 Q6_K，形状 [896, 151936]；</a:t>
            </a:r>
          </a:p>
          <a:p>
            <a:r>
              <a:t>blk.0.attn_q.weight 是 Q4_K，[896, 896]；</a:t>
            </a:r>
          </a:p>
          <a:p>
            <a:r>
              <a:t>blk.0.attn_k.weight 是 Q8_0，[256, 896]——注意 K 的维度是 256，比 Q 的 896 小，这是 GQA；</a:t>
            </a:r>
          </a:p>
          <a:p>
            <a:r>
              <a:t>blk.0.attn_v.weight 是 Q6_K，[896, 896]；</a:t>
            </a:r>
          </a:p>
          <a:p>
            <a:r>
              <a:t>blk.0.ffn_gate.weight 是 Q4_K，[4864, 896]——MLP 的中间维度 4864；</a:t>
            </a:r>
          </a:p>
          <a:p>
            <a:r>
              <a:t>blk.0.ffn_down.weight 是 Q4_K，[896, 4864]。</a:t>
            </a:r>
          </a:p>
          <a:p>
            <a:r>
              <a:t>规律很清楚：嵌入、输出、敏感注意力升级 Q6_K，主体用 Q4_K。</a:t>
            </a:r>
          </a:p>
          <a:p/>
          <a:p>
            <a:r>
              <a:t>【讲解建议】这一页最好配合实际命令行输出讲，比如用 gguf-py dump 出真实数据，让听众看到屏幕上真的打印出这些值。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【这一页的作用】前面讲了格式和原理，这一页回答「我实际要用它，需要哪些工具」。左边是核心工具矩阵（四个），右边是生态支持（四个）。</a:t>
            </a:r>
          </a:p>
          <a:p/>
          <a:p>
            <a:r>
              <a:t>【核心工具矩阵】</a:t>
            </a:r>
          </a:p>
          <a:p>
            <a:r>
              <a:t>gguf-py：Python 生态的核心库，可以便捷读写 GGUF 文件，支持元数据编辑与张量导出。如果你要用脚本处理 GGUF，这是基础工具。</a:t>
            </a:r>
          </a:p>
          <a:p>
            <a:r>
              <a:t>convert_hf_to_gguf.py：把 Hugging Face 格式的模型高效转换为 GGUF。这一步打通了主流开源模型与边缘部署之间的格式壁垒。</a:t>
            </a:r>
          </a:p>
          <a:p>
            <a:r>
              <a:t>llama-quantize：量化压缩工具。把高精度 FP16 模型压缩成 Q4_K_M 等轻量化格式，显著降低显存占用，适配低算力设备。前面讲的 Q4_K_M 配方就是在这里实现的。</a:t>
            </a:r>
          </a:p>
          <a:p>
            <a:r>
              <a:t>gguf 二进制调试工具（例如 llm-gguf 或 gguf-dump）：深度解析文件结构，输出 Header、KV 元数据及张量列表，是模型调试与格式校验的利器。</a:t>
            </a:r>
          </a:p>
          <a:p/>
          <a:p>
            <a:r>
              <a:t>【生态支持】</a:t>
            </a:r>
          </a:p>
          <a:p>
            <a:r>
              <a:t>llama.cpp 是 GGUF 格式的发源地与核心实现者，高性能边缘推理引擎，为各类应用提供底层算力支持。</a:t>
            </a:r>
          </a:p>
          <a:p>
            <a:r>
              <a:t>WebUI（如 text-generation-webui、Ollama 的 Web 界面）完美兼容 GGUF，提供可视化的交互体验。</a:t>
            </a:r>
          </a:p>
          <a:p>
            <a:r>
              <a:t>Ollama 是极简的大模型管理工具，底层默认采用 GGUF 格式，实现模型的一键下载、部署与运行——这是把 GGUF 推向大众的关键产品。</a:t>
            </a:r>
          </a:p>
          <a:p>
            <a:r>
              <a:t>还有大量应用、框架与库广泛集成 GGUF，它已经成为边缘 AI 部署的通用标准格式。</a:t>
            </a:r>
          </a:p>
          <a:p/>
          <a:p>
            <a:r>
              <a:t>【一条典型流水线】可以这样串：Hugging Face 模型 → convert_hf_to_gguf.py → （可选）llama-quantize 量化 → gguf-split 分片（如果太大）→ 部署到 llama.cpp / Ollama。</a:t>
            </a:r>
          </a:p>
          <a:p/>
          <a:p>
            <a:r>
              <a:t>【讲解建议】如果是给应用开发者讲，重点放在「下载模型优先找 gguf 格式」「用 Ollama 一条命令跑起来」。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【为什么要讲 ONNX】因为这是最常被问到的问题之一：「为什么 GGUF 不像 ONNX 那样存完整的模型结构？」答案不是技术优劣，而是两种不同的设计哲学。</a:t>
            </a:r>
          </a:p>
          <a:p/>
          <a:p>
            <a:r>
              <a:t>【GGUF 的定位：专注推理的权重包】</a:t>
            </a:r>
          </a:p>
          <a:p>
            <a:r>
              <a:t>核心定位是轻量化权重容器——专为预训练模型设计，把权重与配置紧密打包，专注于高效存储与快速加载。</a:t>
            </a:r>
          </a:p>
          <a:p>
            <a:r>
              <a:t>计算图是隐式的：计算逻辑由推理引擎内置，文件里只通过元数据指定模型类型（比如 general.architecture = qwen2），不需要显式存储算子细节。</a:t>
            </a:r>
          </a:p>
          <a:p>
            <a:r>
              <a:t>应用场景是 LLM 专用推理部署：深度适配解码器架构，针对大模型推理的速度与内存效率做极致优化，部署即用。</a:t>
            </a:r>
          </a:p>
          <a:p>
            <a:r>
              <a:t>性能上追求极致，架构特定：内存映射加 SIMD 加速带来极快的加载速度，但代价是对新型非标准架构的兼容性较弱。</a:t>
            </a:r>
          </a:p>
          <a:p/>
          <a:p>
            <a:r>
              <a:t>【ONNX 的定位：跨框架的通用计算图】</a:t>
            </a:r>
          </a:p>
          <a:p>
            <a:r>
              <a:t>核心定位是通用中间表示——作为 AI 模型的「通用语言」，完整描述计算逻辑，实现跨框架、跨硬件的无缝转换。</a:t>
            </a:r>
          </a:p>
          <a:p>
            <a:r>
              <a:t>计算图是显式的：以 Protobuf 格式完整记录算子、张量与数据流，计算逻辑完全透明且可解析。</a:t>
            </a:r>
          </a:p>
          <a:p>
            <a:r>
              <a:t>应用场景是跨框架与跨硬件转换：连接 PyTorch、TensorFlow 等框架，适配不同硬件平台，是模型迁移的标准通用格式。</a:t>
            </a:r>
          </a:p>
          <a:p>
            <a:r>
              <a:t>性能上高度通用、灵活适配：兼容几乎所有深度学习模型，代价是推理时需要动态解析计算图，存在少量性能开销。</a:t>
            </a:r>
          </a:p>
          <a:p/>
          <a:p>
            <a:r>
              <a:t>【一句话对比】GGUF 是为 LLM 推理量身打造的专家，ONNX 是能处理各种模型的通才。如果你只跑 LLM，GGUF 更快更省；如果你要在框架之间搬模型，ONNX 更合适。</a:t>
            </a:r>
          </a:p>
          <a:p/>
          <a:p>
            <a:r>
              <a:t>【讲解建议】这一页可以做一个类比：GGUF 像是一本印刷好的专业书（直接读就能用），ONNX 像是一份可编程的说明书（需要引擎先编译再执行）。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【总结的四个核心优势】</a:t>
            </a:r>
          </a:p>
          <a:p>
            <a:r>
              <a:t>一、单文件自包含：权重、元数据、Tokenizer 全部打包进一个文件，分发部署零依赖。这是 GGUF 能被广泛采用的最直接原因。</a:t>
            </a:r>
          </a:p>
          <a:p>
            <a:r>
              <a:t>二、mmap 按需加载：元数据先行只有 O(KB)，权重页错误时才读盘，启动延迟与模型大小彻底解耦。</a:t>
            </a:r>
          </a:p>
          <a:p>
            <a:r>
              <a:t>三、可扩展元数据：KV 键值可以承载任意架构超参，新增架构零格式改动。这让 GGUF 在模型架构快速迭代的这几年里一直不需要破坏性升级。</a:t>
            </a:r>
          </a:p>
          <a:p>
            <a:r>
              <a:t>四、12 层安全防御：分配前全量校验，畸形输入在元数据阶段就被无损拦截。</a:t>
            </a:r>
          </a:p>
          <a:p/>
          <a:p>
            <a:r>
              <a:t>【一句话总结】这段话是整份材料的内核，建议逐句念：</a:t>
            </a:r>
          </a:p>
          <a:p>
            <a:r>
              <a:t>「gguf.cpp 的本质是一个『格式同构』的编解码器：文件字节布局与内存结构（gguf_kv / gguf_tensor_info / 几何三字段）保持一一映射，读取与写入互为逆过程。所有复杂性（IO 介质、内存模式、量化类型）都通过边界抽象（reader 回调、writer 虚接口、no_alloc 协议）隔离在核心数据结构之外；安全性则依靠『分配前校验』的纵深防御体系，使任意畸形输入在元数据阶段即被无损拦截。」</a:t>
            </a:r>
          </a:p>
          <a:p/>
          <a:p>
            <a:r>
              <a:t>【未来三个演进方向】这部分是基于当前格式能力的合理推演：</a:t>
            </a:r>
          </a:p>
          <a:p>
            <a:r>
              <a:t>一、多模态支持。现在 GGUF 的 KV 系统已经能承载任意类型元数据，视觉、音频的投影层权重也可以作为普通张量放进文件。llama.cpp 已经在支持 llava 等多模态模型，架构上不需要改格式。</a:t>
            </a:r>
          </a:p>
          <a:p>
            <a:r>
              <a:t>二、端侧部署优化。随着手机 NPU、边缘推理盒子普及，混合精度配方（类似 Q4_K_M 这种「按张量语义分配精度」的思路）会进一步精细化，甚至可能按硬件平台定制不同的默认配方。</a:t>
            </a:r>
          </a:p>
          <a:p>
            <a:r>
              <a:t>三、分片与流式加载。gguf-split 已经支持分片，结合 mmap 和 HTTP Range 请求，理论上可以做到「边下边跑」——这对超大模型的分发非常关键。</a:t>
            </a:r>
          </a:p>
          <a:p/>
          <a:p>
            <a:r>
              <a:t>【收尾】讲到这里，GGUF 从字节布局到代码实现、从安全防御到量化存储的完整链路就讲完了。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【收尾与互动】我的分享到这里就结束了，感谢大家的聆听。</a:t>
            </a:r>
          </a:p>
          <a:p/>
          <a:p>
            <a:r>
              <a:t>【可能的提问方向，准备一下】</a:t>
            </a:r>
          </a:p>
          <a:p>
            <a:r>
              <a:t>1. 「Q4_K_M 和 Q5_K_M 我该选哪个？」—— 一般优先 Q4_K_M；如果显存/内存宽裕且对质量敏感（比如长文本推理），选 Q5_K_M；极小显存场景选 Q4_K_S 或 Q3_K_M。</a:t>
            </a:r>
          </a:p>
          <a:p>
            <a:r>
              <a:t>2. 「量化会掉多少效果？」—— 以 Q4_K_M 为例，困惑度相比 F16 通常只上升几个百分点，实际对话体验几乎无感；但 Q2_K 以下就开始明显劣化。</a:t>
            </a:r>
          </a:p>
          <a:p>
            <a:r>
              <a:t>3. 「能自己写一个 GGUF 解析器吗？」—— 完全可以。整个格式规范不复杂，关键点就三个：小端序、长度前缀字符串、以及张量偏移必须连续。建议用 gguf-py 做参考实现。</a:t>
            </a:r>
          </a:p>
          <a:p>
            <a:r>
              <a:t>4. 「GGUF 支持 LoRA 吗？」—— 支持。LoRA adapter 可以单独存成 GGUF 文件，加载时通过 apply_lora_from_file 应用到基础模型上。</a:t>
            </a:r>
          </a:p>
          <a:p>
            <a:r>
              <a:t>5. 「为什么不直接用 safetensors？」—— safetensors 解决的是「安全序列化」，GGUF 解决的是「可 mmap、可量化、自描述的推理容器」。两者目标不同，实际上 safetensors 常被当作转换的中间格式，最终仍然会转成 GGUF。</a:t>
            </a:r>
          </a:p>
          <a:p/>
          <a:p>
            <a:r>
              <a:t>【结束语】欢迎随时交流与提问，共同探讨更多可能。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49840" y="822960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1C2640"/>
          </a:solidFill>
          <a:ln w="952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82296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magic</a:t>
            </a:r>
            <a:endParaRPr sz="1000" b="1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149840" y="1691640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1C2640"/>
          </a:solidFill>
          <a:ln w="952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169164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version</a:t>
            </a:r>
            <a:endParaRPr sz="1000" b="1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149840" y="2560320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1C2640"/>
          </a:solidFill>
          <a:ln w="952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256032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n_tensors</a:t>
            </a:r>
            <a:endParaRPr sz="1000" b="1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149840" y="3428999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1C2640"/>
          </a:solidFill>
          <a:ln w="952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0" y="3428999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n_kv</a:t>
            </a:r>
            <a:endParaRPr sz="1000" b="1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149840" y="4297680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1C2640"/>
          </a:solidFill>
          <a:ln w="952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0" y="42976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kv pairs</a:t>
            </a:r>
            <a:endParaRPr sz="1000" b="1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149840" y="5166360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1C2640"/>
          </a:solidFill>
          <a:ln w="952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516636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tensor data</a:t>
            </a:r>
            <a:endParaRPr sz="1000" b="1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1874519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GGML  ·  GGUF SPEC  ·  DEEP DIVE</a:t>
            </a:r>
            <a:endParaRPr sz="1500" b="1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2331720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</a:t>
            </a:r>
            <a:endParaRPr sz="5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361188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从二进制视角到完整设计文档</a:t>
            </a:r>
            <a:endParaRPr sz="16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九章结构 —— 文件规范 · 数据结构 · 解析流程 · 安全防御 · 量化存储 · 实例工具链 · 对比总结</a:t>
            </a:r>
            <a:endParaRPr sz="14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ggml/src/gguf.cpp（1688 行） · ggml/include/gguf.h  |  2026 年 9 月</a:t>
            </a:r>
            <a:endParaRPr sz="11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目录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目录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CONTENTS · 九章结构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设计目标 → 格式规范 → 数据结构 → 解析流程 → 安全 → 量化 → 实例与工具链 → 对比 → 总结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160020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01</a:t>
            </a:r>
            <a:endParaRPr sz="1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6152" y="161848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概述与设计目标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7512" y="2167128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独特 IO 问题 · 三条设计约束 · 八项需求 R1–R8 映射 · 三大核心组成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88536" y="1417320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53128" y="160020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02</a:t>
            </a:r>
            <a:endParaRPr sz="1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01768" y="161848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文件格式规范与编码规则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53128" y="2167128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字节级布局 · 六条编码规则 · 常用 KV 键值 · 32 字节对齐的深层原因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74152" y="1417320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38744" y="160020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03</a:t>
            </a:r>
            <a:endParaRPr sz="1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87384" y="161848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架构分层与核心数据结构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38744" y="2167128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五层模块 · gguf_kv / tensor_info / context / reader · Header 与张量字段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2999232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2" y="318211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04</a:t>
            </a:r>
            <a:endParaRPr sz="1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16152" y="32004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解析主流程与加载协议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7512" y="3749040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gguf_init_from_reader 七阶段 · no_alloc 两阶段 · 写出序列化 · llama.cpp 六步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88536" y="2999232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53128" y="318211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05</a:t>
            </a:r>
            <a:endParaRPr sz="1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01768" y="32004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安全设计与设计权衡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53128" y="3749040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 层纵深防御 · 分配前校验哲学 · 五个 Why 反转思考 · 权衡总结表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74152" y="2999232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38744" y="318211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06</a:t>
            </a:r>
            <a:endParaRPr sz="1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87384" y="32004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量化原理与张量存储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38744" y="3749040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块内误差局部化 · Q4_K_M 两级缩放 · 144 字节超级块 · 混合策略与体积收益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2920" y="4581144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7512" y="47640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07</a:t>
            </a:r>
            <a:endParaRPr sz="1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16152" y="478231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实例分析与工具链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7512" y="5330952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Qwen2-1.5B 逐段解析 · 张量列表 · gguf-py / llama-quantize / gguf-split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288536" y="4581144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53128" y="47640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08</a:t>
            </a:r>
            <a:endParaRPr sz="1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01768" y="478231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格式对比与设计哲学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53128" y="5330952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vs 旧 GGML · GGUF vs ONNX —— 权重包与通用计算图两种路线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074152" y="4581144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38744" y="47640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09</a:t>
            </a:r>
            <a:endParaRPr sz="1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787384" y="478231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总结与未来展望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38744" y="5330952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核心优势回顾 · 一句话总结 · 多模态 / 端侧 / 分片三个演进方向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2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01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概述：解决大模型推理的独特 IO 问题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GGUF（GGML Universal Format）= 可分离元数据与权重的自描述二进制容器格式 + C 实现解析器；也是 llama.cpp 生态唯一的标准文件格式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3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212080" cy="2286000"/>
          </a:xfrm>
          <a:prstGeom prst="roundRect">
            <a:avLst>
              <a:gd name="adj" fmla="val 55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▍要解决的本质问题</a:t>
            </a:r>
            <a:endParaRPr sz="14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4800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单模型文件可达数十至数百 GB，而推理开始只需要极小一部分元数据。</a:t>
            </a:r>
            <a:endParaRPr sz="120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传统整文件加载（早期 .pt）导致：</a:t>
            </a:r>
            <a:endParaRPr sz="12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首次加载延迟巨大（数百 GB 完整读入内存）</a:t>
            </a:r>
            <a:endParaRPr sz="12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内存占用 = 模型全量大小</a:t>
            </a:r>
            <a:endParaRPr sz="12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不支持多分片、流式、边下边载</a:t>
            </a:r>
            <a:endParaRPr sz="12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5212080" cy="2331720"/>
          </a:xfrm>
          <a:prstGeom prst="roundRect">
            <a:avLst>
              <a:gd name="adj" fmla="val 55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9592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▍三条设计约束</a:t>
            </a:r>
            <a:endParaRPr sz="14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361688"/>
            <a:ext cx="480060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纯 C API（extern "C"）：</a:t>
            </a:r>
            <a:r>
              <a:rPr sz="12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便于 gguf-py / Swift / Android 等多语言 FFI</a:t>
            </a:r>
            <a:endParaRPr sz="12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零外部依赖：</a:t>
            </a:r>
            <a:r>
              <a:rPr sz="12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仅 libc 与 C++ STL，嵌入式与移动端可编译</a:t>
            </a:r>
            <a:endParaRPr sz="12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一次解析、多次使用：</a:t>
            </a:r>
            <a:r>
              <a:rPr sz="12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gguf_context 被架构识别、分词器构建、权重映射等子系统并发只读访问</a:t>
            </a:r>
            <a:endParaRPr sz="12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0" y="1417320"/>
            <a:ext cx="5742432" cy="475488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72768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▍需求 → 设计响应映射</a:t>
            </a:r>
            <a:endParaRPr sz="14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72200" y="1993392"/>
            <a:ext cx="457200" cy="274320"/>
          </a:xfrm>
          <a:prstGeom prst="roundRect">
            <a:avLst>
              <a:gd name="adj" fmla="val 18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R1</a:t>
            </a:r>
            <a:endParaRPr sz="100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48272" y="196596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元数据与权重可分离读取</a:t>
            </a:r>
            <a:endParaRPr sz="10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15400" y="193852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前置全部 KV + 张量描述符，数据段置后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72200" y="2510028"/>
            <a:ext cx="457200" cy="274320"/>
          </a:xfrm>
          <a:prstGeom prst="roundRect">
            <a:avLst>
              <a:gd name="adj" fmla="val 18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R2</a:t>
            </a:r>
            <a:endParaRPr sz="100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48272" y="2482596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解析元数据 O(元数据) 内存</a:t>
            </a:r>
            <a:endParaRPr sz="10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15400" y="2455164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no_alloc 两阶段加载协议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72200" y="3026664"/>
            <a:ext cx="457200" cy="274320"/>
          </a:xfrm>
          <a:prstGeom prst="roundRect">
            <a:avLst>
              <a:gd name="adj" fmla="val 18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R3</a:t>
            </a:r>
            <a:endParaRPr sz="100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8272" y="2999232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权重可 mmap 零拷贝</a:t>
            </a:r>
            <a:endParaRPr sz="10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15400" y="29718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数据段 32 字节对齐；偏移可预计算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72200" y="3543300"/>
            <a:ext cx="457200" cy="274320"/>
          </a:xfrm>
          <a:prstGeom prst="roundRect">
            <a:avLst>
              <a:gd name="adj" fmla="val 18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R4</a:t>
            </a:r>
            <a:endParaRPr sz="100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48272" y="351586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任意 IO 介质</a:t>
            </a:r>
            <a:endParaRPr sz="10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15400" y="3488436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gguf_reader 回调抽象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172200" y="4059935"/>
            <a:ext cx="457200" cy="274320"/>
          </a:xfrm>
          <a:prstGeom prst="roundRect">
            <a:avLst>
              <a:gd name="adj" fmla="val 18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R5</a:t>
            </a:r>
            <a:endParaRPr sz="100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48272" y="4032503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支持量化张量</a:t>
            </a:r>
            <a:endParaRPr sz="10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915400" y="4005072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复用 ggml_type 的 type_size / blck_size 体系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172200" y="4576572"/>
            <a:ext cx="457200" cy="274320"/>
          </a:xfrm>
          <a:prstGeom prst="roundRect">
            <a:avLst>
              <a:gd name="adj" fmla="val 18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R6</a:t>
            </a:r>
            <a:endParaRPr sz="100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48272" y="454914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防御恶意 / 损坏文件</a:t>
            </a:r>
            <a:endParaRPr sz="10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915400" y="452170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长度上限、溢出检查、偏移连续性强校验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172200" y="5093208"/>
            <a:ext cx="457200" cy="274320"/>
          </a:xfrm>
          <a:prstGeom prst="roundRect">
            <a:avLst>
              <a:gd name="adj" fmla="val 18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R7</a:t>
            </a:r>
            <a:endParaRPr sz="100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48272" y="5065776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格式可演进</a:t>
            </a:r>
            <a:endParaRPr sz="10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15400" y="5038344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版本字段 + 前向拒绝策略 + static_assert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72200" y="5609844"/>
            <a:ext cx="457200" cy="274320"/>
          </a:xfrm>
          <a:prstGeom prst="roundRect">
            <a:avLst>
              <a:gd name="adj" fmla="val 18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R8</a:t>
            </a:r>
            <a:endParaRPr sz="100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48272" y="5582412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单文件自包含</a:t>
            </a:r>
            <a:endParaRPr sz="10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15400" y="55549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KV 系统承载任意类型元数据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01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整体结构：三大核心组成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文件是「三段式」的——固定头信息 → 键值元数据 → 权重张量数据，顺序排列、单遍读完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4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630168" cy="3931920"/>
          </a:xfrm>
          <a:prstGeom prst="roundRect">
            <a:avLst>
              <a:gd name="adj" fmla="val 4500"/>
            </a:avLst>
          </a:prstGeom>
          <a:solidFill>
            <a:srgbClr val="1C2640"/>
          </a:solidFill>
          <a:ln w="15875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167335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01</a:t>
            </a:r>
            <a:endParaRPr sz="14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167335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文件头 Header</a:t>
            </a:r>
            <a:endParaRPr sz="1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8952" y="237744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文件的「身份证」</a:t>
            </a:r>
            <a:endParaRPr sz="120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2761488"/>
            <a:ext cx="3182112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固定大小的结构体，用于快速识别 GGUF 文件类型与版本。包含魔数（magic）、版本号（version）、张量总数（n_tensors）、元数据条数（n_kv）四个字段，是模型加载的首要解析对象。</a:t>
            </a:r>
            <a:endParaRPr sz="12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58952" y="4709160"/>
            <a:ext cx="3154680" cy="457200"/>
          </a:xfrm>
          <a:prstGeom prst="roundRect">
            <a:avLst>
              <a:gd name="adj" fmla="val 10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7091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5AA2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定长 24 字节 → 可预计算后续偏移</a:t>
            </a:r>
            <a:endParaRPr sz="1050" b="1">
              <a:solidFill>
                <a:srgbClr val="5AA2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34256" y="1417320"/>
            <a:ext cx="3630168" cy="3931920"/>
          </a:xfrm>
          <a:prstGeom prst="roundRect">
            <a:avLst>
              <a:gd name="adj" fmla="val 45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0288" y="167335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02</a:t>
            </a:r>
            <a:endParaRPr sz="14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02936" y="167335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元数据区 Metadata</a:t>
            </a:r>
            <a:endParaRPr sz="1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90288" y="237744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模型的「说明书」</a:t>
            </a:r>
            <a:endParaRPr sz="12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90288" y="2761488"/>
            <a:ext cx="3182112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以键值对（KV）形式存储模型架构、超参数、Tokenizer 配置等信息。这部分数据不参与实际计算，仅用于加载器理解与解析模型的结构与运行环境，体积通常只有 KB 级。</a:t>
            </a:r>
            <a:endParaRPr sz="12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90288" y="4709160"/>
            <a:ext cx="3154680" cy="457200"/>
          </a:xfrm>
          <a:prstGeom prst="roundRect">
            <a:avLst>
              <a:gd name="adj" fmla="val 10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47091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O(元数据) 内存即可完成解析</a:t>
            </a:r>
            <a:endParaRPr sz="105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165592" y="1417320"/>
            <a:ext cx="3630168" cy="3931920"/>
          </a:xfrm>
          <a:prstGeom prst="roundRect">
            <a:avLst>
              <a:gd name="adj" fmla="val 4500"/>
            </a:avLst>
          </a:prstGeom>
          <a:solidFill>
            <a:srgbClr val="1C2640"/>
          </a:solidFill>
          <a:ln w="15875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21624" y="167335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3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03</a:t>
            </a:r>
            <a:endParaRPr sz="14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34272" y="167335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张量数据区 Tensors</a:t>
            </a:r>
            <a:endParaRPr sz="1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21624" y="237744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39B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权重「二进制数据」</a:t>
            </a:r>
            <a:endParaRPr sz="1200" b="1">
              <a:solidFill>
                <a:srgbClr val="C39B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21624" y="2761488"/>
            <a:ext cx="3182112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包含所有权重张量的描述信息与原始二进制数据。它占据文件的绝大部分体积，是模型进行推理、计算与运行的核心基础，常以 Q4_K_M 等量化格式存储。</a:t>
            </a:r>
            <a:endParaRPr sz="12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421624" y="4709160"/>
            <a:ext cx="3154680" cy="457200"/>
          </a:xfrm>
          <a:prstGeom prst="roundRect">
            <a:avLst>
              <a:gd name="adj" fmla="val 10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47091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C39B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占文件 99% 以上体积</a:t>
            </a:r>
            <a:endParaRPr sz="1050" b="1">
              <a:solidFill>
                <a:srgbClr val="C39B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2920" y="5577840"/>
            <a:ext cx="11183112" cy="731520"/>
          </a:xfrm>
          <a:prstGeom prst="roundRect">
            <a:avLst>
              <a:gd name="adj" fmla="val 6000"/>
            </a:avLst>
          </a:prstGeom>
          <a:solidFill>
            <a:srgbClr val="243152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文件结构顺序：</a:t>
            </a:r>
            <a:r>
              <a:rPr sz="130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[ 固定头信息 Header ]  →  [ 键值元数据 Metadata ]  →  [ 权重张量数据 Tensors ]</a:t>
            </a:r>
            <a:endParaRPr sz="130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02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文件格式规范：字节级布局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文件布局 = 解析顺序的同构设计 —— 元数据前置、数据后置，单遍顺序读取即可完成全部解析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5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86400" cy="4800600"/>
          </a:xfrm>
          <a:prstGeom prst="roundRect">
            <a:avLst>
              <a:gd name="adj" fmla="val 35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73352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0x00</a:t>
            </a:r>
            <a:endParaRPr sz="950" b="1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53312" y="1673352"/>
            <a:ext cx="2395728" cy="384048"/>
          </a:xfrm>
          <a:prstGeom prst="roundRect">
            <a:avLst>
              <a:gd name="adj" fmla="val 14000"/>
            </a:avLst>
          </a:prstGeom>
          <a:solidFill>
            <a:srgbClr val="243152"/>
          </a:solidFill>
          <a:ln w="12700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1673352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magic "GGUF"  (4B)</a:t>
            </a:r>
            <a:endParaRPr sz="10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58768" y="1673352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格式识别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2208276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0x04</a:t>
            </a:r>
            <a:endParaRPr sz="950" b="1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53312" y="2208276"/>
            <a:ext cx="2395728" cy="384048"/>
          </a:xfrm>
          <a:prstGeom prst="roundRect">
            <a:avLst>
              <a:gd name="adj" fmla="val 14000"/>
            </a:avLst>
          </a:prstGeom>
          <a:solidFill>
            <a:srgbClr val="243152"/>
          </a:solidFill>
          <a:ln w="12700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2208276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version  (uint32)</a:t>
            </a:r>
            <a:endParaRPr sz="10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58768" y="2208276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演进 + 字节序自检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2743200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0x08</a:t>
            </a:r>
            <a:endParaRPr sz="950" b="1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353312" y="2743200"/>
            <a:ext cx="2395728" cy="384048"/>
          </a:xfrm>
          <a:prstGeom prst="roundRect">
            <a:avLst>
              <a:gd name="adj" fmla="val 14000"/>
            </a:avLst>
          </a:prstGeom>
          <a:solidFill>
            <a:srgbClr val="243152"/>
          </a:solidFill>
          <a:ln w="12700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2743200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n_tensors (int64)</a:t>
            </a:r>
            <a:endParaRPr sz="10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58768" y="274320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张量描述符区长度预告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3278124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0x10</a:t>
            </a:r>
            <a:endParaRPr sz="950" b="1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353312" y="3278124"/>
            <a:ext cx="2395728" cy="384048"/>
          </a:xfrm>
          <a:prstGeom prst="roundRect">
            <a:avLst>
              <a:gd name="adj" fmla="val 14000"/>
            </a:avLst>
          </a:prstGeom>
          <a:solidFill>
            <a:srgbClr val="243152"/>
          </a:solidFill>
          <a:ln w="12700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3312" y="3278124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n_kv      (int64)</a:t>
            </a:r>
            <a:endParaRPr sz="10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58768" y="3278124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KV 区长度预告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3813048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0x18</a:t>
            </a:r>
            <a:endParaRPr sz="950" b="1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353312" y="3813048"/>
            <a:ext cx="2395728" cy="384048"/>
          </a:xfrm>
          <a:prstGeom prst="roundRect">
            <a:avLst>
              <a:gd name="adj" fmla="val 14000"/>
            </a:avLst>
          </a:prstGeom>
          <a:solidFill>
            <a:srgbClr val="243152"/>
          </a:solidFill>
          <a:ln w="12700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53312" y="3813048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KV Pair #0..n_kv-1</a:t>
            </a:r>
            <a:endParaRPr sz="10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58768" y="381304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key(变长str) + type + value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4347972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</a:t>
            </a:r>
            <a:endParaRPr sz="950" b="1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353312" y="4347972"/>
            <a:ext cx="2395728" cy="384048"/>
          </a:xfrm>
          <a:prstGeom prst="roundRect">
            <a:avLst>
              <a:gd name="adj" fmla="val 14000"/>
            </a:avLst>
          </a:prstGeom>
          <a:solidFill>
            <a:srgbClr val="243152"/>
          </a:solidFill>
          <a:ln w="12700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3312" y="4347972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Tensor Info #0..n-1</a:t>
            </a:r>
            <a:endParaRPr sz="10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58768" y="4347972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name + n_dims + ne[] + type + offset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5800" y="4882896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align</a:t>
            </a:r>
            <a:endParaRPr sz="950" b="1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353312" y="4882896"/>
            <a:ext cx="2395728" cy="384048"/>
          </a:xfrm>
          <a:prstGeom prst="roundRect">
            <a:avLst>
              <a:gd name="adj" fmla="val 14000"/>
            </a:avLst>
          </a:prstGeom>
          <a:solidFill>
            <a:srgbClr val="243152"/>
          </a:solidFill>
          <a:ln w="12700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53312" y="4882896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GGML_PAD(tell, alignment)</a:t>
            </a:r>
            <a:endParaRPr sz="10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58768" y="4882896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对齐边界（默认 32B）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00" y="5417820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data </a:t>
            </a:r>
            <a:endParaRPr sz="950" b="1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353312" y="5417820"/>
            <a:ext cx="2395728" cy="384048"/>
          </a:xfrm>
          <a:prstGeom prst="roundRect">
            <a:avLst>
              <a:gd name="adj" fmla="val 14000"/>
            </a:avLst>
          </a:prstGeom>
          <a:solidFill>
            <a:srgbClr val="243152"/>
          </a:solidFill>
          <a:ln w="12700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53312" y="5417820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Tensor Data Blob</a:t>
            </a:r>
            <a:endParaRPr sz="10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858768" y="541782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权重数据，占绝大部分体积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587044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单遍顺序读取即可完成全部解析 —— 无回读、无 seek 依赖</a:t>
            </a:r>
            <a:endParaRPr sz="10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217920" y="1417320"/>
            <a:ext cx="5468112" cy="4800600"/>
          </a:xfrm>
          <a:prstGeom prst="roundRect">
            <a:avLst>
              <a:gd name="adj" fmla="val 35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15727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▍六条编码规则设计决策</a:t>
            </a:r>
            <a:endParaRPr sz="14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46520" y="20116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字符串编码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955279" y="201168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uint64 长度 + 原始字节（无 NUL）</a:t>
            </a:r>
            <a:endParaRPr sz="105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55279" y="228600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长度前缀支持二进制安全内容；免 strlen，O(1) 定长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46520" y="27203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枚举编码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955279" y="272034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int32_t</a:t>
            </a:r>
            <a:endParaRPr sz="105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955279" y="299466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兼容负值哨兵（非法类型 -1 初始化），留演进空间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46520" y="34290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bool 编码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955279" y="342900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int8_t（非 0 为真）</a:t>
            </a:r>
            <a:endParaRPr sz="105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955279" y="370332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C99 前 bool 尺寸未定，int8 是最大公约数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46520" y="41376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整数宽度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955279" y="413766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计数字段一律 64 位</a:t>
            </a:r>
            <a:endParaRPr sz="105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955279" y="44119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张量数 / KV 数 / 元素数都可能超 32 位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46520" y="48463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字节序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955279" y="484632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小端序 Little-endian</a:t>
            </a:r>
            <a:endParaRPr sz="105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955279" y="512064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version 字段兼作大端文件哨兵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46520" y="55549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对齐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955279" y="555498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默认 32B，必须 2 的幂</a:t>
            </a:r>
            <a:endParaRPr sz="105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955279" y="582930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SIMD/DMA 兼容 + 位运算取模 + mmap 页友好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02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编码规则落地：gguf_string 与常用 KV 键值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字符串用「长度前缀」而非终止符；KV 区是模型的说明书，架构、超参、分词器全在这里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6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611880" cy="214884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875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1D1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 gguf_string 变长字符串</a:t>
            </a:r>
            <a:endParaRPr sz="1300" b="1">
              <a:solidFill>
                <a:srgbClr val="41D1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31821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uint64_t length</a:t>
            </a:r>
            <a:endParaRPr sz="11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+ 原始字节流（无 \0 终止符）</a:t>
            </a:r>
            <a:endParaRPr sz="110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31821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长度前缀 → 二进制安全，内容可含 \0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免 strlen，取长度为 O(1)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key 最长 64B（GGUF_KEY_MAX）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611880" cy="214884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875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72768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 单条 KV 的组成</a:t>
            </a:r>
            <a:endParaRPr sz="130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6280" y="1938528"/>
            <a:ext cx="31821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[ gguf_string key ]</a:t>
            </a:r>
            <a:endParaRPr sz="11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[ uint32_t type ] + [ payload ]</a:t>
            </a:r>
            <a:endParaRPr sz="11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26280" y="2560320"/>
            <a:ext cx="31821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key 为标识，重复 key 会被拒绝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type 定义数据格式（12 种枚举）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payload 支持标量 / 字符串 / 数组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593592" cy="214884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875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72768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39B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 模型的「说明书」</a:t>
            </a:r>
            <a:endParaRPr sz="1300" b="1">
              <a:solidFill>
                <a:srgbClr val="C39B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21040" y="1938528"/>
            <a:ext cx="318211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承载模型运行的关键元信息，是加载与推理的基础：</a:t>
            </a:r>
            <a:endParaRPr sz="10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架构参数与超参（层数、维度、头数）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硬件适配与上下文配置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张量维度约束与量化类型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分词器词表与合并规则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3749039"/>
            <a:ext cx="10671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常用 GGUF 核心键值定义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4206240"/>
          <a:ext cx="10671048" cy="255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4663440"/>
                <a:gridCol w="3401568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endParaRPr sz="11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1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1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3FD6D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CADCFC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>
                        <a:solidFill>
                          <a:srgbClr val="8B96A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3FD6D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CADCFC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>
                        <a:solidFill>
                          <a:srgbClr val="8B96A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3FD6D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CADCFC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>
                        <a:solidFill>
                          <a:srgbClr val="8B96A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3FD6D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CADCFC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>
                        <a:solidFill>
                          <a:srgbClr val="8B96A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3FD6D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CADCFC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>
                        <a:solidFill>
                          <a:srgbClr val="8B96A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3FD6D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CADCFC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>
                        <a:solidFill>
                          <a:srgbClr val="8B96A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3FD6D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CADCFC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>
                        <a:solidFill>
                          <a:srgbClr val="8B96A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02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对齐设计的深层原因 · GGUF vs 旧 GGML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数据段 32 字节对齐是 mmap、SIMD 与位运算取模三条约束的交汇点；而 GGUF 相对旧 GGML 的本质升级是「解耦」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7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9A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▍为什么默认 32 字节对齐</a:t>
            </a:r>
            <a:endParaRPr sz="1400" b="1">
              <a:solidFill>
                <a:srgbClr val="FF9A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4956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mmap 零拷贝</a:t>
            </a:r>
            <a:endParaRPr sz="11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212848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张量数据起始地址按 32B 对齐，映射后张量地址天然对齐，避免 CPU 访问未对齐内存的性能惩罚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546604"/>
            <a:ext cx="4956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SIMD 友好</a:t>
            </a:r>
            <a:endParaRPr sz="11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2793492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NEON / AVX 一次加载 16~64 字节，对齐保证向量化反量化不跨界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127248"/>
            <a:ext cx="4956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 位运算取模</a:t>
            </a:r>
            <a:endParaRPr sz="115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3374136"/>
            <a:ext cx="4983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对齐值为 2 的幂时，GGML_PAD 可用 (x+align-1) &amp; ~(align-1) 零成本完成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3931920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对齐三件套（源码）</a:t>
            </a:r>
            <a:endParaRPr sz="120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50749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#define GGML_PAD(x, n)  (((x) + (n) - 1) &amp; ~((n) - 1))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解析阶段 ⑤：数据段起点定位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reader.seek(GGML_PAD(reader.tell(), alignment));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ctx-&gt;offset = reader.tell();   // 数据段绝对偏移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general.alignment 可调，但必须 2 的幂（读写双侧校验）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1417320"/>
            <a:ext cx="5468112" cy="237744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5727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▍旧 GGML 格式（已废弃）</a:t>
            </a:r>
            <a:endParaRPr sz="1400" b="1">
              <a:solidFill>
                <a:srgbClr val="FF5C5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1965960"/>
            <a:ext cx="50292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结构耦合、分散存储：张量信息与数据紧绑，难以高效 mmap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扩展性差：缺乏独立元数据区，新增架构需修改文件头，官方已停止维护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全量加载：无法按需加载，启动需读取整个文件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5468112" cy="224028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873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1D1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▍GGUF（新标准）</a:t>
            </a:r>
            <a:endParaRPr sz="1400" b="1">
              <a:solidFill>
                <a:srgbClr val="41D1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46520" y="448056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三区分离：Header / Metadata(KV) / Tensors，元数据 O(KB) 先行解析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可扩展 KV：新增架构超参零格式改动；版本化演进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mmap 按页惰性加载：启动只读元数据，权重页错误时才读盘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03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总体架构与模块分层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所有复杂性都通过边界抽象隔离在核心数据结构之外 —— 向下依赖单向，IO 在最边缘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8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7315200" cy="78638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773936"/>
            <a:ext cx="1051560" cy="365760"/>
          </a:xfrm>
          <a:prstGeom prst="roundRect">
            <a:avLst>
              <a:gd name="adj" fmla="val 14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73936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应用层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40280" y="1773936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llama.cpp model-loader · gguf-py · convert_hf_to_gguf.py · gguf-split</a:t>
            </a:r>
            <a:endParaRPr sz="11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2487168"/>
            <a:ext cx="7315200" cy="78638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2706624"/>
            <a:ext cx="1051560" cy="365760"/>
          </a:xfrm>
          <a:prstGeom prst="roundRect">
            <a:avLst>
              <a:gd name="adj" fmla="val 14000"/>
            </a:avLst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06624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 层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40280" y="2706624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from_file / from_buffer / from_callback · 查询接口 · 动态修改 API · gguf_write_to_file</a:t>
            </a:r>
            <a:endParaRPr sz="11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419856"/>
            <a:ext cx="7315200" cy="78638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3639312"/>
            <a:ext cx="1051560" cy="365760"/>
          </a:xfrm>
          <a:prstGeom prst="roundRect">
            <a:avLst>
              <a:gd name="adj" fmla="val 14000"/>
            </a:avLst>
          </a:prstGeom>
          <a:solidFill>
            <a:srgbClr val="41D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3931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核心层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40280" y="363931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gguf_init_from_reader（七阶段解析） · gguf_write_out（序列化驱动）</a:t>
            </a:r>
            <a:endParaRPr sz="11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" y="4352544"/>
            <a:ext cx="7315200" cy="78638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4572000"/>
            <a:ext cx="1051560" cy="365760"/>
          </a:xfrm>
          <a:prstGeom prst="roundRect">
            <a:avLst>
              <a:gd name="adj" fmla="val 14000"/>
            </a:avLst>
          </a:prstGeom>
          <a:solidFill>
            <a:srgbClr val="FF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7200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抽象层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40280" y="45720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gguf_reader（输入回调） · gguf_writer_base（输出虚基类）</a:t>
            </a:r>
            <a:endParaRPr sz="11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" y="5285232"/>
            <a:ext cx="7315200" cy="78638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5840" y="5504688"/>
            <a:ext cx="1051560" cy="365760"/>
          </a:xfrm>
          <a:prstGeom prst="roundRect">
            <a:avLst>
              <a:gd name="adj" fmla="val 14000"/>
            </a:avLst>
          </a:prstGeom>
          <a:solidFill>
            <a:srgbClr val="C3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504688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数据层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40280" y="550468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gguf_kv · gguf_tensor_info · gguf_context · 几何三字段(alignment/offset/size)</a:t>
            </a:r>
            <a:endParaRPr sz="11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412480" y="1554480"/>
            <a:ext cx="3291840" cy="4572000"/>
          </a:xfrm>
          <a:prstGeom prst="roundRect">
            <a:avLst>
              <a:gd name="adj" fmla="val 3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17099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▍分层原则</a:t>
            </a:r>
            <a:endParaRPr sz="14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41080" y="2103120"/>
            <a:ext cx="2880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向下依赖单向</a:t>
            </a:r>
            <a:endParaRPr sz="11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应用层→API→核心→抽象→数据，绝不反向</a:t>
            </a:r>
            <a:endParaRPr sz="11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IO 在最边缘</a:t>
            </a:r>
            <a:endParaRPr sz="11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文件/内存/网络差异被 reader/writer 吸收，核心零 IO</a:t>
            </a:r>
            <a:endParaRPr sz="11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格式同构</a:t>
            </a:r>
            <a:endParaRPr sz="11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字节布局 ↔ 内存结构一一映射，读写互为逆过程</a:t>
            </a:r>
            <a:endParaRPr sz="11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纯 C 边界</a:t>
            </a:r>
            <a:endParaRPr sz="11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跨语言 FFI 只暴露数据层句柄</a:t>
            </a:r>
            <a:endParaRPr sz="11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03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Header 详解：四个字段撑起文件索引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定长 24 字节 —— 读完即可算出 KV 区、张量区、数据段的全部偏移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9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212080" cy="233172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 struct gguf_header —— 定长 24 字节</a:t>
            </a:r>
            <a:endParaRPr sz="13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48006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typedef struct {</a:t>
            </a:r>
            <a:endParaRPr sz="11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uint32_t magic;      // "GGUF" = 0x46554747</a:t>
            </a:r>
            <a:endParaRPr sz="110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AA2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uint32_t version;    // v2 / v3（主流 v3）</a:t>
            </a:r>
            <a:endParaRPr sz="1100" b="0">
              <a:solidFill>
                <a:srgbClr val="5AA2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F9A3D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uint64_t n_tensors;  // 张量描述符数量</a:t>
            </a:r>
            <a:endParaRPr sz="1100" b="0">
              <a:solidFill>
                <a:srgbClr val="FF9A3D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F9A3D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uint64_t n_kv;       // KV 键值对数量</a:t>
            </a:r>
            <a:endParaRPr sz="1100" b="0">
              <a:solidFill>
                <a:srgbClr val="FF9A3D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 gguf_header;</a:t>
            </a:r>
            <a:endParaRPr sz="11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931920"/>
            <a:ext cx="5212080" cy="224028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 核心设计特性</a:t>
            </a:r>
            <a:endParaRPr sz="1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462272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小端序（Little-endian）存储</a:t>
            </a:r>
            <a:r>
              <a:rPr sz="11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—— 保障跨平台兼容，无需转换</a:t>
            </a:r>
            <a:endParaRPr sz="11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45000"/>
              </a:lnSpc>
            </a:pPr>
            <a:r>
              <a:rPr sz="11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结构大小固定</a:t>
            </a:r>
            <a:r>
              <a:rPr sz="11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—— 读毕即可计算偏移，直接定位 KV 区与数据段</a:t>
            </a:r>
            <a:endParaRPr sz="11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45000"/>
              </a:lnSpc>
            </a:pPr>
            <a:r>
              <a:rPr sz="115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字段即索引</a:t>
            </a:r>
            <a:r>
              <a:rPr sz="11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—— n_tensors / n_kv 预告后续两区长度，支撑单遍解析</a:t>
            </a:r>
            <a:endParaRPr sz="11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0" y="1508760"/>
            <a:ext cx="2770632" cy="2212848"/>
          </a:xfrm>
          <a:prstGeom prst="roundRect">
            <a:avLst>
              <a:gd name="adj" fmla="val 4500"/>
            </a:avLst>
          </a:prstGeom>
          <a:solidFill>
            <a:srgbClr val="1C2640"/>
          </a:solidFill>
          <a:ln w="15875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673351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magic · 魔数</a:t>
            </a:r>
            <a:endParaRPr sz="135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2167128"/>
            <a:ext cx="2395728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文件身份的唯一标识，固定为 ASCII 字符 "GGUF"（0x46554747）。加载器首要校验此值，非该标识即判定为非法文件 —— 这是安全加载的第一道关卡。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869680" y="1508760"/>
            <a:ext cx="2770632" cy="2212848"/>
          </a:xfrm>
          <a:prstGeom prst="roundRect">
            <a:avLst>
              <a:gd name="adj" fmla="val 45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673351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version · 版本</a:t>
            </a:r>
            <a:endParaRPr sz="135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70848" y="2167128"/>
            <a:ext cx="2395728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主流为 v3。相比 v2 支持更多量化格式（如 Q4_K_M）与张量对齐优化。它决定解析规则、兼容范围与功能支持，并兼作字节序哨兵。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0" y="3959352"/>
            <a:ext cx="2770632" cy="2212848"/>
          </a:xfrm>
          <a:prstGeom prst="roundRect">
            <a:avLst>
              <a:gd name="adj" fmla="val 4500"/>
            </a:avLst>
          </a:prstGeom>
          <a:solidFill>
            <a:srgbClr val="1C2640"/>
          </a:solidFill>
          <a:ln w="15875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41239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F9A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n_tensors · 张量数</a:t>
            </a:r>
            <a:endParaRPr sz="1350" b="1">
              <a:solidFill>
                <a:srgbClr val="FF9A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4768" y="4617720"/>
            <a:ext cx="2395728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模型权重参数张量的总个数，涵盖 Transformer 架构的所有核心层（q_proj / k_proj / o_proj / ffn_* 等），决定后续读取次数与内存分配规模。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69680" y="3959352"/>
            <a:ext cx="2770632" cy="2212848"/>
          </a:xfrm>
          <a:prstGeom prst="roundRect">
            <a:avLst>
              <a:gd name="adj" fmla="val 4500"/>
            </a:avLst>
          </a:prstGeom>
          <a:solidFill>
            <a:srgbClr val="1C2640"/>
          </a:solidFill>
          <a:ln w="15875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48" y="41239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C39B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n_kv · 元数据量</a:t>
            </a:r>
            <a:endParaRPr sz="1350" b="1">
              <a:solidFill>
                <a:srgbClr val="C39B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70848" y="4617720"/>
            <a:ext cx="2395728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模型元信息的条目数量，包含架构名称、量化类型、上下文窗口大小、词表等关键配置，是模型正确加载与运行的必要信息。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03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核心数据结构定义（gguf.h）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四个结构体撑起整个格式 —— 元数据项、张量描述符、上下文容器、IO 抽象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10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5486400" cy="2212848"/>
          </a:xfrm>
          <a:prstGeom prst="roundRect">
            <a:avLst>
              <a:gd name="adj" fmla="val 35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507492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struct gguf_kv —— 元数据项</a:t>
            </a:r>
            <a:endParaRPr sz="120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char   key[GGUF_KEY_MAX];  // 键名，最长 64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int32_t type;              // gguf_type 枚举(12种)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size_t  narr;              // ARRAY 元素数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std::vector&lt;int8_t&gt;  data; // 标量通道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std::vector&lt;gguf_buf&gt; buf; // 字符串/数组通道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双 vector 而非 variant：序列化同构 + 异常安全，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避免 union 管理非平凡类型的析构难题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68112" cy="2212848"/>
          </a:xfrm>
          <a:prstGeom prst="roundRect">
            <a:avLst>
              <a:gd name="adj" fmla="val 3500"/>
            </a:avLst>
          </a:prstGeom>
          <a:solidFill>
            <a:srgbClr val="1C2640"/>
          </a:solidFill>
          <a:ln w="15875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507492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1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struct gguf_tensor_info —— 张量描述符</a:t>
            </a:r>
            <a:endParaRPr sz="1200" b="1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gguf_string   name;   // 如 blk.0.attn_q.weight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uint32_t      n_dims; // ≤ GGML_MAX_DIMS(4)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uint64_t      ne[4];  // 各维元素数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ggml_tensor   t;      // 内嵌完整 ggml_tensor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uint64_t      offset; // 相对数据段起点的偏移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为什么内嵌 ggml_tensor 而非独立结构？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形状→步长→字节数的推导只有 ggml.c 一份权威实现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858768"/>
            <a:ext cx="5486400" cy="2331720"/>
          </a:xfrm>
          <a:prstGeom prst="roundRect">
            <a:avLst>
              <a:gd name="adj" fmla="val 3500"/>
            </a:avLst>
          </a:prstGeom>
          <a:solidFill>
            <a:srgbClr val="1C2640"/>
          </a:solidFill>
          <a:ln w="15875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95928"/>
            <a:ext cx="507492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1">
                <a:solidFill>
                  <a:srgbClr val="5AA2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struct gguf_context —— 上下文容器</a:t>
            </a:r>
            <a:endParaRPr sz="1200" b="1">
              <a:solidFill>
                <a:srgbClr val="5AA2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uint32_t version;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uint64_t offset;   // 数据段绝对偏移（文件地图）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uint64_t size;     // 数据段总字节数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size_t   alignment;// 对齐（默认 32）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std::vector&lt;gguf_kv&gt;          kv;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std::vector&lt;gguf_tensor_info&gt; info;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「文件地图」三字段支撑 gguf-split 分片：分片后坐标公式依然成立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468112" cy="2331720"/>
          </a:xfrm>
          <a:prstGeom prst="roundRect">
            <a:avLst>
              <a:gd name="adj" fmla="val 3500"/>
            </a:avLst>
          </a:prstGeom>
          <a:solidFill>
            <a:srgbClr val="1C2640"/>
          </a:solidFill>
          <a:ln w="15875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95928"/>
            <a:ext cx="507492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1">
                <a:solidFill>
                  <a:srgbClr val="C39B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struct gguf_reader —— 输入抽象</a:t>
            </a:r>
            <a:endParaRPr sz="1200" b="1">
              <a:solidFill>
                <a:srgbClr val="C39B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gguf_reader_callback_t callback; // 读原语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size_t offset;         // 绝对偏移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size_t nbytes_remain;  // 剩余可读字节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支持任意介质：文件 / 内存 / 网络 / RPC / 加密流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新介质只需实现一个回调，核心解析零改动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先验 nbytes_remain 检查 + 后验 GGML_ASSERT 双层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4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04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解析主流程：gguf_init_from_reader 七阶段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单遍顺序读取 · 每个阶段都有失败出口（gguf_free + return nullptr）· 读取路径 fail-fast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11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2679192" cy="201168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875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719072"/>
            <a:ext cx="2331720" cy="384048"/>
          </a:xfrm>
          <a:prstGeom prst="roundRect">
            <a:avLst>
              <a:gd name="adj" fmla="val 16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7190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校验 Magic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" y="224028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 4 字节 == "GGUF"，非法即失败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3200400" y="2450591"/>
            <a:ext cx="146304" cy="182880"/>
          </a:xfrm>
          <a:prstGeom prst="rightArrow">
            <a:avLst/>
          </a:prstGeom>
          <a:solidFill>
            <a:srgbClr val="8B9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46704" y="1554480"/>
            <a:ext cx="2679192" cy="201168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11296" y="1719072"/>
            <a:ext cx="2331720" cy="384048"/>
          </a:xfrm>
          <a:prstGeom prst="roundRect">
            <a:avLst>
              <a:gd name="adj" fmla="val 16000"/>
            </a:avLst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17190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Header/版本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11296" y="224028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version 三重检查；低 16 位=0 判定大端文件并拦截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6044184" y="2450591"/>
            <a:ext cx="146304" cy="182880"/>
          </a:xfrm>
          <a:prstGeom prst="rightArrow">
            <a:avLst/>
          </a:prstGeom>
          <a:solidFill>
            <a:srgbClr val="8B9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0488" y="1554480"/>
            <a:ext cx="2679192" cy="201168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875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79" y="1719072"/>
            <a:ext cx="2331720" cy="384048"/>
          </a:xfrm>
          <a:prstGeom prst="roundRect">
            <a:avLst>
              <a:gd name="adj" fmla="val 16000"/>
            </a:avLst>
          </a:prstGeom>
          <a:solidFill>
            <a:srgbClr val="41D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17190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 KV 反序列化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55079" y="224028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循环 n_kv：key 查重 + type 分发；串长≤1GB、数组≤1G 项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8887967" y="2450591"/>
            <a:ext cx="146304" cy="182880"/>
          </a:xfrm>
          <a:prstGeom prst="rightArrow">
            <a:avLst/>
          </a:prstGeom>
          <a:solidFill>
            <a:srgbClr val="8B9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34272" y="1554480"/>
            <a:ext cx="2679192" cy="201168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875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98864" y="1719072"/>
            <a:ext cx="2331720" cy="384048"/>
          </a:xfrm>
          <a:prstGeom prst="roundRect">
            <a:avLst>
              <a:gd name="adj" fmla="val 16000"/>
            </a:avLst>
          </a:prstGeom>
          <a:solidFill>
            <a:srgbClr val="41D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8864" y="171907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④ alignment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98864" y="224028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 general.alignment，默认 32，必须 2 的幂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2920" y="3794760"/>
            <a:ext cx="2679192" cy="201168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875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7512" y="3959352"/>
            <a:ext cx="2331720" cy="384048"/>
          </a:xfrm>
          <a:prstGeom prst="roundRect">
            <a:avLst>
              <a:gd name="adj" fmla="val 16000"/>
            </a:avLst>
          </a:prstGeom>
          <a:solidFill>
            <a:srgbClr val="FF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95935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⑤ Tensor Info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7512" y="448056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name≤64 去重 · n_dims≤4 · 乘积除法链防溢出 · type 合法 · ne[0]%blck_size==0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3200400" y="4690872"/>
            <a:ext cx="146304" cy="182880"/>
          </a:xfrm>
          <a:prstGeom prst="rightArrow">
            <a:avLst/>
          </a:prstGeom>
          <a:solidFill>
            <a:srgbClr val="8B9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46704" y="3794760"/>
            <a:ext cx="2679192" cy="201168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875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11296" y="3959352"/>
            <a:ext cx="2331720" cy="384048"/>
          </a:xfrm>
          <a:prstGeom prst="roundRect">
            <a:avLst>
              <a:gd name="adj" fmla="val 16000"/>
            </a:avLst>
          </a:prstGeom>
          <a:solidFill>
            <a:srgbClr val="FF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11296" y="395935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⑥ 对齐+强校验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11296" y="448056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seek(PAD(tell)) 定位数据段；ti.offset 必须等于累计 size（无空洞/重叠）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Right Arrow 37"/>
          <p:cNvSpPr/>
          <p:nvPr/>
        </p:nvSpPr>
        <p:spPr>
          <a:xfrm>
            <a:off x="6044184" y="4690872"/>
            <a:ext cx="146304" cy="182880"/>
          </a:xfrm>
          <a:prstGeom prst="rightArrow">
            <a:avLst/>
          </a:prstGeom>
          <a:solidFill>
            <a:srgbClr val="8B9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90488" y="3794760"/>
            <a:ext cx="2679192" cy="201168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875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55079" y="3959352"/>
            <a:ext cx="2331720" cy="384048"/>
          </a:xfrm>
          <a:prstGeom prst="roundRect">
            <a:avLst>
              <a:gd name="adj" fmla="val 16000"/>
            </a:avLst>
          </a:prstGeom>
          <a:solidFill>
            <a:srgbClr val="C3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79" y="395935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⑦ 条件实例化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55079" y="448056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ctx==NULL→纯元数据；no_alloc→仅建骨架(mmap主路径)；否则读入 blob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Right Arrow 42"/>
          <p:cNvSpPr/>
          <p:nvPr/>
        </p:nvSpPr>
        <p:spPr>
          <a:xfrm>
            <a:off x="8887967" y="4690872"/>
            <a:ext cx="146304" cy="182880"/>
          </a:xfrm>
          <a:prstGeom prst="rightArrow">
            <a:avLst/>
          </a:prstGeom>
          <a:solidFill>
            <a:srgbClr val="8B9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2920" y="5806440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243152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806440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全部成功 → 返回 gguf_context*    |    任何阶段失败 → gguf_free + return nullptr</a:t>
            </a:r>
            <a:endParaRPr sz="1200" b="1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读取路径 fail-fast：失败是预期分支，不是异常事件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04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no_alloc 两阶段加载：mmap 零拷贝的关键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llama.cpp 主路径 —— 启动只读 KB 级元数据，权重页错误时才读盘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12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27632"/>
            <a:ext cx="3200400" cy="411480"/>
          </a:xfrm>
          <a:prstGeom prst="roundRect">
            <a:avLst>
              <a:gd name="adj" fmla="val 14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2763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llama-model-loader</a:t>
            </a:r>
            <a:endParaRPr sz="125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2212848"/>
            <a:ext cx="32461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gguf_init_from_file(no_alloc=true)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得到 gguf_context* + 张量骨架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mmap(file) 映射整文件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tensor-&gt;data = file_addr + offset + info[i].offset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推理期按页惰性加载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096512" y="3246120"/>
            <a:ext cx="164592" cy="201168"/>
          </a:xfrm>
          <a:prstGeom prst="rightArrow">
            <a:avLst/>
          </a:prstGeom>
          <a:solidFill>
            <a:srgbClr val="8B9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146304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07992" y="1627632"/>
            <a:ext cx="3200400" cy="411480"/>
          </a:xfrm>
          <a:prstGeom prst="roundRect">
            <a:avLst>
              <a:gd name="adj" fmla="val 14000"/>
            </a:avLst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62763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gguf.cpp</a:t>
            </a:r>
            <a:endParaRPr sz="125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07992" y="2212848"/>
            <a:ext cx="32461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顺序读元数据区（≈KB 级）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返回 KV + TensorInfo + 几何三字段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no_alloc=true：只建张量骨架，data=nullptr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mem_size = n × tensor_overhead（不含权重）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918704" y="3246120"/>
            <a:ext cx="164592" cy="201168"/>
          </a:xfrm>
          <a:prstGeom prst="rightArrow">
            <a:avLst/>
          </a:prstGeom>
          <a:solidFill>
            <a:srgbClr val="8B9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47304" y="1463040"/>
            <a:ext cx="3566160" cy="393192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30183" y="1627632"/>
            <a:ext cx="3200400" cy="411480"/>
          </a:xfrm>
          <a:prstGeom prst="roundRect">
            <a:avLst>
              <a:gd name="adj" fmla="val 14000"/>
            </a:avLst>
          </a:prstGeom>
          <a:solidFill>
            <a:srgbClr val="C3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162763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OS / 磁盘</a:t>
            </a:r>
            <a:endParaRPr sz="125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30183" y="2212848"/>
            <a:ext cx="32461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只读文件头部若干页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mmap 建立虚拟映射，不发生物理拷贝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页错误（缺页中断）时才把对应页读入内存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5577840"/>
            <a:ext cx="11183112" cy="777240"/>
          </a:xfrm>
          <a:prstGeom prst="roundRect">
            <a:avLst>
              <a:gd name="adj" fmla="val 5000"/>
            </a:avLst>
          </a:prstGeom>
          <a:solidFill>
            <a:srgbClr val="243152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收益：</a:t>
            </a:r>
            <a:r>
              <a:rPr sz="12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启动延迟与模型大小解耦（70B 模型启动也只读几 KB 元数据）</a:t>
            </a:r>
            <a:endParaRPr sz="12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内存占用 = 页缓存按需增长    ·    多进程共享同一物理页</a:t>
            </a:r>
            <a:endParaRPr sz="12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04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序列化与写出：gguf_write_out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写入 = 解析的逆过程 · 与解析阶段完全对偶 · 支持三段式写入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13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691639"/>
            <a:ext cx="310896" cy="310896"/>
          </a:xfrm>
          <a:prstGeom prst="ellipse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</a:t>
            </a:r>
            <a:endParaRPr sz="12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4712" y="1673351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Header</a:t>
            </a:r>
            <a:endParaRPr sz="1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" y="210312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"GGUF" + version + n_tensors + n_kv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25112" y="15087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07992" y="1691639"/>
            <a:ext cx="310896" cy="310896"/>
          </a:xfrm>
          <a:prstGeom prst="ellipse">
            <a:avLst/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2</a:t>
            </a:r>
            <a:endParaRPr sz="12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46903" y="1673351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KV 区</a:t>
            </a:r>
            <a:endParaRPr sz="1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26279" y="210312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for each kv → write(gguf_kv)，与解析阶段③对偶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47304" y="15087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30183" y="1691639"/>
            <a:ext cx="310896" cy="310896"/>
          </a:xfrm>
          <a:prstGeom prst="ellipse">
            <a:avLst/>
          </a:prstGeom>
          <a:solidFill>
            <a:srgbClr val="41D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3</a:t>
            </a:r>
            <a:endParaRPr sz="12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69096" y="1673351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 Tensor Meta</a:t>
            </a:r>
            <a:endParaRPr sz="1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48472" y="210312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for each info → name + n_dims + ne + type + offset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31089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291840"/>
            <a:ext cx="310896" cy="310896"/>
          </a:xfrm>
          <a:prstGeom prst="ellipse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4</a:t>
            </a:r>
            <a:endParaRPr sz="12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4712" y="327355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④ 对齐</a:t>
            </a:r>
            <a:endParaRPr sz="1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4088" y="370332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pad(alignment) 后记录 offset_data = written_bytes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325112" y="31089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07992" y="3291840"/>
            <a:ext cx="310896" cy="310896"/>
          </a:xfrm>
          <a:prstGeom prst="ellipse">
            <a:avLst/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5</a:t>
            </a:r>
            <a:endParaRPr sz="12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46903" y="327355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⑤ only_meta?</a:t>
            </a:r>
            <a:endParaRPr sz="1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26279" y="370332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 → 返回（供 gguf-split 分段写入）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147304" y="31089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30183" y="3291840"/>
            <a:ext cx="310896" cy="310896"/>
          </a:xfrm>
          <a:prstGeom prst="ellipse">
            <a:avLst/>
          </a:prstGeom>
          <a:solidFill>
            <a:srgbClr val="41D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6</a:t>
            </a:r>
            <a:endParaRPr sz="12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69096" y="327355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⑥ Tensor Data</a:t>
            </a:r>
            <a:endParaRPr sz="1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48472" y="370332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t.buffer ? backend_tensor_get(GPU拉回) : memcpy(t.data)；逐块 pad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489204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01091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三段式写入（gguf_get_meta_size/data）</a:t>
            </a:r>
            <a:endParaRPr sz="110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20" y="5349240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占位 → 写权重数据 → 回填元数据</a:t>
            </a:r>
            <a:endParaRPr sz="1100" b="1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转换工具可在未知最终元数据大小时先流式写权重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17920" y="4892040"/>
            <a:ext cx="5468112" cy="137160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01091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writer 模板去虚化</a:t>
            </a:r>
            <a:endParaRPr sz="110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46520" y="5349240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gguf_write_out&lt;writer_t&gt; 实例化使虚调用可去虚化</a:t>
            </a:r>
            <a:endParaRPr sz="1100" b="1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高频 write(int8_t) 接近零开销抽象；磁盘失败抛 runtime_error 后转 bool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04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llama.cpp 运行时加载流程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从文件到可推理 —— 六个步骤串起 GGUF 的消费端视角；全程无内存拷贝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14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422392" cy="1133856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4604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664207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5AA2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01</a:t>
            </a:r>
            <a:endParaRPr sz="2200" b="1">
              <a:solidFill>
                <a:srgbClr val="5AA2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35608" y="1700784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文件校验与解析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35608" y="2084831"/>
            <a:ext cx="4389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打开 GGUF 文件，读取 Header 并严格校验魔数 "GGUF"，确保文件格式合法完整。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5422392" cy="1133856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4604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664207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02</a:t>
            </a:r>
            <a:endParaRPr sz="220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96327" y="1700784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元数据与张量读取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96327" y="2084831"/>
            <a:ext cx="4389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解析模型架构、层数、维度等关键元数据，遍历读取所有张量的名称、形状及量化类型。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2852928"/>
            <a:ext cx="5422392" cy="1133856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4604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2962656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03</a:t>
            </a:r>
            <a:endParaRPr sz="2200" b="1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35608" y="2999232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内存映射 mmap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35608" y="3383280"/>
            <a:ext cx="4389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通过 mmap 系统调用将整个 GGUF 文件映射到进程虚拟地址空间，建立磁盘与内存的直接关联。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63640" y="2852928"/>
            <a:ext cx="5422392" cy="1133856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4604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2962656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9A3D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04</a:t>
            </a:r>
            <a:endParaRPr sz="2200" b="1">
              <a:solidFill>
                <a:srgbClr val="FF9A3D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96327" y="2999232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构建计算图上下文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96327" y="3383280"/>
            <a:ext cx="4389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 ggml_context 环境，初始化计算图，并将张量数据指针指向内存映射区域的对应偏移。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4151376"/>
            <a:ext cx="5422392" cy="1133856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4604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261104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C39B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05</a:t>
            </a:r>
            <a:endParaRPr sz="2200" b="1">
              <a:solidFill>
                <a:srgbClr val="C39B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35608" y="429768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零拷贝数据引用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35608" y="4681728"/>
            <a:ext cx="4389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无需将数据从磁盘复制到内存，直接通过指针访问映射区域，消除了冗余的内存拷贝开销。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63640" y="4151376"/>
            <a:ext cx="5422392" cy="1133856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4604">
            <a:solidFill>
              <a:srgbClr val="FFD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7" y="4261104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D45E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06</a:t>
            </a:r>
            <a:endParaRPr sz="2200" b="1">
              <a:solidFill>
                <a:srgbClr val="FFD45E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96327" y="429768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按需推理与加载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7" y="4681728"/>
            <a:ext cx="4389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推理过程中触发缺页中断，操作系统自动将所需数据从磁盘加载至物理内存，实现高效按需加载。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183112" cy="731520"/>
          </a:xfrm>
          <a:prstGeom prst="roundRect">
            <a:avLst>
              <a:gd name="adj" fmla="val 5000"/>
            </a:avLst>
          </a:prstGeom>
          <a:solidFill>
            <a:srgbClr val="243152"/>
          </a:solidFill>
          <a:ln w="12700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核心优势：极致的加载效率</a:t>
            </a:r>
            <a:endParaRPr sz="13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全程无内存拷贝，权重数据直接从磁盘映射至内存空间，大幅降低 IO 开销，显著提升大模型的启动速度与运行性能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05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安全设计与威胁模型：12 层纵深防御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所有校验发生在分配内存之前 —— 畸形输入只浪费解析阶段 CPU，不触及分配器或映射器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15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L1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52728" y="1627631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Magic 校验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52728" y="2057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格式混淆/误读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25112" y="1508760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62272" y="1783080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L2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74920" y="1627631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版本三重检查 + 字节序哨兵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74920" y="2057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伪造版本/大端炸弹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47304" y="1508760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84464" y="1783080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L3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97112" y="1627631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n_kv/n_tensors ≤ SIZE_MAX/sizeof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97112" y="2057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声明 10⁹ 张量→OOM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2642615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2916935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L4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52728" y="2761487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字符串 ≤1GB 且 ≤剩余字节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52728" y="319125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长度前缀欺骗→resize OOM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325112" y="2642615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62272" y="2916935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L5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74920" y="2761487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数组 ≤1G 项 + 溢出检查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74920" y="319125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数组维度炸弹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147304" y="2642615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84464" y="2916935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L6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97112" y="2761487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bad_alloc 捕获转布尔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97112" y="319125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分配失败优雅降级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3776472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4050791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41D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L7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52728" y="389534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张量名 &lt; GGML_MAX_NAME(64)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52728" y="43251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越界写 name[64]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325112" y="3776472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62272" y="4050791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41D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L8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74920" y="389534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ne[j] 非负 + 乘积除法链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74920" y="43251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整型回绕→巨大 nbytes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147304" y="3776472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84464" y="4050791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41D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L9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897112" y="389534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ggml_type 范围 + ne[0]%blck_size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97112" y="43251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非法量化类型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02920" y="4910327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5184647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FF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L10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52728" y="5029199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对齐必须 2 的幂（读写双侧）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52728" y="5458967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位运算取模失效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325112" y="4910327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462272" y="5184647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FF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L11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074920" y="5029199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数据段偏移连续性强校验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074920" y="5458967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空洞/重叠→越界映射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147304" y="4910327"/>
            <a:ext cx="3566160" cy="969264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84464" y="5184647"/>
            <a:ext cx="475488" cy="384048"/>
          </a:xfrm>
          <a:prstGeom prst="roundRect">
            <a:avLst>
              <a:gd name="adj" fmla="val 20000"/>
            </a:avLst>
          </a:prstGeom>
          <a:solidFill>
            <a:srgbClr val="FF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L12</a:t>
            </a:r>
            <a:endParaRPr sz="11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897112" y="5029199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SIZE_MAX 累加溢出检查</a:t>
            </a:r>
            <a:endParaRPr sz="10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897112" y="5458967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拦截: 总尺寸回绕</a:t>
            </a:r>
            <a:endParaRPr sz="9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02920" y="5897880"/>
            <a:ext cx="11183112" cy="502920"/>
          </a:xfrm>
          <a:prstGeom prst="roundRect">
            <a:avLst>
              <a:gd name="adj" fmla="val 6000"/>
            </a:avLst>
          </a:prstGeom>
          <a:solidFill>
            <a:srgbClr val="243152"/>
          </a:solidFill>
          <a:ln w="12700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89788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5C5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威胁模型：</a:t>
            </a: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文件来自不可信源（分享站 / 下载站）。元数据解析先于一切用户交互，长度 / 数量字段直接驱动内存分配 —— 这是 OOM 攻击面。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05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关键设计决策：Why 解析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五个反转思考 —— 每个决策都先问「如果不这样会怎样」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16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为什么元数据前置、数据后置？</a:t>
            </a:r>
            <a:endParaRPr sz="12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1563624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若数据在前、元数据在后，解析器必须先 seek 到文件尾读目录（类似 zip central directory）：两次遍历复杂化 mmap 计算；流式介质（网络/管道）无法回读，格式直接不可用。前置元数据使解析器单遍顺序读取完成全部解析。</a:t>
            </a:r>
            <a:endParaRPr sz="10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2450592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42032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为什么版本检查要做字节序启发式？</a:t>
            </a:r>
            <a:endParaRPr sz="12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2532888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(version &amp; 0xFFFF) == 0 → 字节被反转（大端文件在小端机读出 0x03000000）。继续解析会得到全错 n_kv 报错困惑；用版本字段做字节序哨兵，把错误定位提前到第一个字段。</a:t>
            </a:r>
            <a:endParaRPr sz="10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419856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11296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为什么读取 fail-fast 而写入用异常？</a:t>
            </a:r>
            <a:endParaRPr sz="12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0" y="3502152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读路径面对不可信输入，失败是预期分支，返回值表达、调用方干净传播；写路径磁盘失败是罕见事件，跨多层模板调用栈，逐层错误码会污染所有签名 —— 异常用于「罕见、深层、跨多层」，返回值用于「常见、浅层」。</a:t>
            </a:r>
            <a:endParaRPr sz="10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4389120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 KV 查找不做索引优化？</a:t>
            </a:r>
            <a:endParaRPr sz="12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0" y="4471416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加载期每个 key 只查 1-2 次；n_kv 现实上界 &lt; 500 项，O(n) 扫描 &lt; 1ms。哈希索引需额外内存 + 排序约束 + 增删一致性维护。简单性赢。</a:t>
            </a:r>
            <a:endParaRPr sz="10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5358384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49824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为什么复用 ggml_tensor 而非独立描述符？</a:t>
            </a:r>
            <a:endParaRPr sz="12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0" y="5440680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单一权威实现原则：形状→步长→字节数推导只在 ggml.c 存在一份。历史上偏移类 bug 多源于两套实现的细微差异（量化 nbytes 折算）。</a:t>
            </a:r>
            <a:endParaRPr sz="10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05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设计权衡总结表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每个决策都有被放弃的替代方案 —— 取舍才是设计的本质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17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81328"/>
          <a:ext cx="11183112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017520"/>
                <a:gridCol w="2377440"/>
                <a:gridCol w="44165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5AA2FF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8B96AB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5AA2FF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8B96AB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5AA2FF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8B96AB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5AA2FF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8B96AB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5AA2FF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8B96AB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5AA2FF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8B96AB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5AA2FF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8B96AB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5AA2FF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8B96AB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5AA2FF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8B96AB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5AA2FF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1">
                        <a:solidFill>
                          <a:srgbClr val="8B96AB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0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06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量化原理：块内误差局部化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把权重张量切成独立的小块，每块单独计算专属缩放因子与偏移量 —— 这是 K-quants 精度的基石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18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83112" cy="141732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72768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核心思想</a:t>
            </a:r>
            <a:endParaRPr sz="14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10652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将权重张量分割为多个独立的「块」，并为每个块单独计算专属的缩放因子与偏移量。</a:t>
            </a:r>
            <a:endParaRPr sz="1300" b="1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这种局部化策略是 GGML 新一代 K-quants 量化技术的基石，从根本上解决了传统全局量化因数值范围差异导致的精度损耗问题。</a:t>
            </a:r>
            <a:endParaRPr sz="12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063240"/>
            <a:ext cx="3566160" cy="306324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32918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41D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01</a:t>
            </a:r>
            <a:endParaRPr sz="13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32918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更高的精度保留</a:t>
            </a:r>
            <a:endParaRPr sz="1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952" y="4069080"/>
            <a:ext cx="3182112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摒弃全局统一参数，为每个数据块定制最优缩放因子，精准适配其独特的数值分布。相比传统量化，在同等比特率下能有效降低模型困惑度（PPL），最大限度保留模型的原始推理能力与准确性。</a:t>
            </a:r>
            <a:endParaRPr sz="12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25112" y="3063240"/>
            <a:ext cx="3566160" cy="306324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81144" y="32918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02</a:t>
            </a:r>
            <a:endParaRPr sz="13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93792" y="32918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更强的数值稳定性</a:t>
            </a:r>
            <a:endParaRPr sz="1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81144" y="4069080"/>
            <a:ext cx="3182112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量化误差被严格限制在独立的小块范围内，避免了误差在整个权重张量中扩散和累积。这一特性有效抑制了数值漂移，确保模型在低精度量化场景下依然保持稳健的计算表现，避免结果发散。</a:t>
            </a:r>
            <a:endParaRPr sz="12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47304" y="3063240"/>
            <a:ext cx="3566160" cy="306324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03336" y="32918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3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0B0F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03</a:t>
            </a:r>
            <a:endParaRPr sz="1300" b="1">
              <a:solidFill>
                <a:srgbClr val="0B0F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15984" y="32918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硬件级效率优化</a:t>
            </a:r>
            <a:endParaRPr sz="1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03336" y="4069080"/>
            <a:ext cx="3182112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分块设计完美契合现代 CPU 的缓存架构，计算时可将块内权重与量化参数批量载入高速缓存，大幅减少缓存未命中带来的性能开销，显著提升内存访问效率与整体推理速度。</a:t>
            </a:r>
            <a:endParaRPr sz="12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06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量化与张量存储：Q4_K_M 块量化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超级块 256 权重 + 8 个子块两级缩放 · block_q4_K = 144 字节 → 4.5 bit/权重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19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5486400" cy="265176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1848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▍两级缩放架构</a:t>
            </a:r>
            <a:endParaRPr sz="14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8"/>
            <a:ext cx="502920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超级块：</a:t>
            </a: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256 个权重为一组，共享 fp16 的 d（scale）与 dmin（min）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子块：</a:t>
            </a: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切成 8 × 32，每个子块独立的 6bit (sc, m)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有效乘数：</a:t>
            </a: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d_sub = fp32(d) × sc，m_sub = fp32(dmin) × m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设计动机：</a:t>
            </a: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大动态范围交给 fp16，细分辨率交给 6bit，两边都不吃亏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429768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165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量化 / 反量化公式</a:t>
            </a:r>
            <a:endParaRPr sz="105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50749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q = clamp(round((w + dm) / d), 0, 15)   // 量化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w = d·sc·q - dmin·m                     // 反量化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减 m 而非加：scale 恒正，6bit 无符号不浪费符号空间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block_q4_K = d(2B)+dmin(2B)+scales(12B)+qs(128B) = 144B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FF9A3D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256 权重 / 144 字节 = 4.5 bit/权重</a:t>
            </a:r>
            <a:endParaRPr sz="1050" b="0">
              <a:solidFill>
                <a:srgbClr val="FF9A3D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68112" cy="265176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8191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9A3D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scales[12]：16 个 6bit 值装进 12 字节（96bit）</a:t>
            </a:r>
            <a:endParaRPr sz="1000" b="1">
              <a:solidFill>
                <a:srgbClr val="FF9A3D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50749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打包（写入）：</a:t>
            </a:r>
            <a:endParaRPr sz="10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16000"/>
              </a:lnSpc>
            </a:pPr>
            <a:r>
              <a:rPr sz="100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if (j &lt; 4) {</a:t>
            </a:r>
            <a:endParaRPr sz="100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16000"/>
              </a:lnSpc>
            </a:pPr>
            <a:r>
              <a:rPr sz="100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scales[j]   = ls;          // scale 低6bit</a:t>
            </a:r>
            <a:endParaRPr sz="100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16000"/>
              </a:lnSpc>
            </a:pPr>
            <a:r>
              <a:rPr sz="100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scales[j+4] = lm;          // min   低6bit</a:t>
            </a:r>
            <a:endParaRPr sz="100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16000"/>
              </a:lnSpc>
            </a:pPr>
            <a:r>
              <a:rPr sz="100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} else {</a:t>
            </a:r>
            <a:endParaRPr sz="100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16000"/>
              </a:lnSpc>
            </a:pPr>
            <a:r>
              <a:rPr sz="1000" b="0">
                <a:solidFill>
                  <a:srgbClr val="5AA2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scales[j+4] = (ls &amp; 0xF) | ((lm &amp; 0xF) &lt;&lt; 4);</a:t>
            </a:r>
            <a:endParaRPr sz="1000" b="0">
              <a:solidFill>
                <a:srgbClr val="5AA2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16000"/>
              </a:lnSpc>
            </a:pPr>
            <a:r>
              <a:rPr sz="1000" b="0">
                <a:solidFill>
                  <a:srgbClr val="5AA2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scales[j-4] |= (ls &gt;&gt; 4) &lt;&lt; 6; // 高2bit 借位</a:t>
            </a:r>
            <a:endParaRPr sz="1000" b="0">
              <a:solidFill>
                <a:srgbClr val="5AA2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16000"/>
              </a:lnSpc>
            </a:pPr>
            <a:r>
              <a:rPr sz="1000" b="0">
                <a:solidFill>
                  <a:srgbClr val="5AA2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scales[j-0] |= (lm &gt;&gt; 4) &lt;&lt; 6;</a:t>
            </a:r>
            <a:endParaRPr sz="1000" b="0">
              <a:solidFill>
                <a:srgbClr val="5AA2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16000"/>
              </a:lnSpc>
            </a:pPr>
            <a:r>
              <a:rPr sz="100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}</a:t>
            </a:r>
            <a:endParaRPr sz="100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16000"/>
              </a:lnSpc>
            </a:pPr>
            <a:r>
              <a:rPr sz="10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低4bit 装满前8字节，高2bit 藏进各字节 bit6-7</a:t>
            </a:r>
            <a:endParaRPr sz="10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4297680"/>
            <a:ext cx="5468112" cy="1874519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4165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39B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qs[128]：256 个 4bit 值，每字节 2 个</a:t>
            </a:r>
            <a:endParaRPr sz="1050" b="1">
              <a:solidFill>
                <a:srgbClr val="C39B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4754880"/>
            <a:ext cx="50749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for (j = 0; j &lt; QK_K; j += 64)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q[l] = L[j+l] | (L[j+l+32] &lt;&lt; 4);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低半字节 = 权重0..31，高半字节 = 权重32..63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反量化: 低=q&amp;0xF 高=q&gt;&gt;4，各 32 个一组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交错布局配合 SIMD：一次加载同时取两组低半字节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06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Q4_K_M 混合策略与体积收益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「M」是 llama-quantize 的预设配方：主体 Q4_K + 敏感张量升 Q6_K；7B 模型从 F16 的 14 GB 压到 ≈4.1 GB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20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81328"/>
          <a:ext cx="11183112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1737360"/>
                <a:gridCol w="44165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CADCFC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41D15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3FD6D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CADCFC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41D15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3FD6D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24315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CADCFC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41D15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1">
                        <a:solidFill>
                          <a:srgbClr val="3FD6D6"/>
                        </a:solidFill>
                        <a:latin typeface="Menlo" panose="020B0609030804020204"/>
                        <a:ea typeface="Menlo" panose="020B0609030804020204"/>
                        <a:cs typeface="Menlo" panose="020B0609030804020204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050" b="0">
                        <a:solidFill>
                          <a:srgbClr val="CADCF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T="27432" marB="27432" anchor="ctr">
                    <a:solidFill>
                      <a:srgbClr val="1C2640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3794760"/>
            <a:ext cx="11183112" cy="2514600"/>
          </a:xfrm>
          <a:prstGeom prst="roundRect">
            <a:avLst>
              <a:gd name="adj" fmla="val 3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1363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▍体积对比（7B 模型）</a:t>
            </a:r>
            <a:endParaRPr sz="13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F32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91640" y="4361688"/>
            <a:ext cx="4343400" cy="237744"/>
          </a:xfrm>
          <a:prstGeom prst="roundRect">
            <a:avLst>
              <a:gd name="adj" fmla="val 16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3434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≈ 28 GB · 32 bpw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7274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F16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691640" y="4745736"/>
            <a:ext cx="2176272" cy="237744"/>
          </a:xfrm>
          <a:prstGeom prst="roundRect">
            <a:avLst>
              <a:gd name="adj" fmla="val 16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47274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≈ 14 GB · 16 bpw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11149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Q8_0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691640" y="5129783"/>
            <a:ext cx="1152144" cy="237744"/>
          </a:xfrm>
          <a:prstGeom prst="roundRect">
            <a:avLst>
              <a:gd name="adj" fmla="val 16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80944" y="511149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≈ 7.4 GB · 8.5 bpw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549554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Q6_K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91640" y="5513831"/>
            <a:ext cx="914400" cy="237744"/>
          </a:xfrm>
          <a:prstGeom prst="roundRect">
            <a:avLst>
              <a:gd name="adj" fmla="val 16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549554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≈ 5.9 GB · 6.56 bpw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" y="587959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Q4_K_M</a:t>
            </a:r>
            <a:endParaRPr sz="105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691640" y="5897879"/>
            <a:ext cx="640080" cy="237744"/>
          </a:xfrm>
          <a:prstGeom prst="roundRect">
            <a:avLst>
              <a:gd name="adj" fmla="val 16000"/>
            </a:avLst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79" y="587959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≈ 4.1 GB · ~4.8 bpw</a:t>
            </a:r>
            <a:endParaRPr sz="10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321040" y="4343400"/>
            <a:ext cx="3364992" cy="1874519"/>
          </a:xfrm>
          <a:prstGeom prst="roundRect">
            <a:avLst>
              <a:gd name="adj" fmla="val 6000"/>
            </a:avLst>
          </a:prstGeom>
          <a:solidFill>
            <a:srgbClr val="243152"/>
          </a:solidFill>
          <a:ln w="12700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462272"/>
            <a:ext cx="30175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Q4_K_M 以约 15% 的 F16 体积</a:t>
            </a:r>
            <a:endParaRPr sz="1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保持接近 Q8 的质量</a:t>
            </a:r>
            <a:endParaRPr sz="1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体量 / 精度甜点位：</a:t>
            </a:r>
            <a:endParaRPr sz="11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 Q4_K_S 大 ~10%，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但困惑度明显更优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06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算子优化与源码阅读指南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SIMD 向量化使 Q4_K 反量化比纯 C 实现快 3~7 倍；核心代码集中在 ggml-cpu-quants.c 与 ggml-cuda/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21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5486400" cy="4434840"/>
          </a:xfrm>
          <a:prstGeom prst="roundRect">
            <a:avLst>
              <a:gd name="adj" fmla="val 3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/ 算子级汇编与 NEON 优化</a:t>
            </a:r>
            <a:endParaRPr sz="15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2402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</a:t>
            </a:r>
            <a:endParaRPr sz="11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720" y="2203704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数据并行加载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2532888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利用 SIMD 指令一次性批量加载量化数据块，大幅减少内存访问次数，提升数据吞吐效率。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2</a:t>
            </a:r>
            <a:endParaRPr sz="11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3163824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向量化反量化计算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8720" y="3493008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 CPU 寄存器层面并行处理多个数据的反量化与计算，充分利用硬件的并行计算能力。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1605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3</a:t>
            </a:r>
            <a:endParaRPr sz="11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720" y="4123944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运算融合优化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8720" y="4453128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将反量化、矩阵乘法等操作深度融合，减少中间结果的内存存储与读取，降低延迟。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5193792"/>
            <a:ext cx="5029200" cy="566928"/>
          </a:xfrm>
          <a:prstGeom prst="roundRect">
            <a:avLst>
              <a:gd name="adj" fmla="val 8000"/>
            </a:avLst>
          </a:prstGeom>
          <a:solidFill>
            <a:srgbClr val="243152"/>
          </a:solidFill>
          <a:ln w="12700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93792"/>
            <a:ext cx="5029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性能飞跃：相比纯 C 实现，效率提升 </a:t>
            </a:r>
            <a:r>
              <a:rPr sz="1500" b="1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3~7 倍</a:t>
            </a:r>
            <a:endParaRPr sz="1500" b="1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17920" y="1463040"/>
            <a:ext cx="5468112" cy="4434840"/>
          </a:xfrm>
          <a:prstGeom prst="roundRect">
            <a:avLst>
              <a:gd name="adj" fmla="val 3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627632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/ 核心源码定位与阅读指南</a:t>
            </a:r>
            <a:endParaRPr sz="15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46520" y="2240280"/>
            <a:ext cx="5029200" cy="1051560"/>
          </a:xfrm>
          <a:prstGeom prst="roundRect">
            <a:avLst>
              <a:gd name="adj" fmla="val 6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33172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CPU 后端核心实现</a:t>
            </a:r>
            <a:endParaRPr sz="1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目录：llama.cpp/ggml/src/ggml-cpu/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关键文件：ops.cpp、ggml-cpu-quants.c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架构宏：x86 查 AVX2/AVX512，ARM 查 NEON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46520" y="3429000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52044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GPU 加速后端（CUDA）</a:t>
            </a:r>
            <a:endParaRPr sz="1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目录：ggml-cuda/，包含 .cu 与 .cuh 文件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利用 NVIDIA GPU 的大规模并行计算能力实现加速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46520" y="45262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243152"/>
          </a:solidFill>
          <a:ln w="12700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61772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🎯 快速定位 Q4_K 核心代码</a:t>
            </a:r>
            <a:endParaRPr sz="125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 ggml-cpu-quants.c 中搜索关键词：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`q4_k`  或  `ggml_vec_dot_q4_K`</a:t>
            </a:r>
            <a:endParaRPr sz="1100" b="1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即可找到核心反量化与点积逻辑</a:t>
            </a:r>
            <a:endParaRPr sz="105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07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实例分析：Qwen2-1.5B-Instruct.Q4_K_M.gguf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用一个真实文件把规范串起来 —— Header / KV / Tensor 三区逐段解析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22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6362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FD6D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① Header 基础信息</a:t>
            </a:r>
            <a:endParaRPr sz="1050" b="1">
              <a:solidFill>
                <a:srgbClr val="3FD6D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1874519"/>
            <a:ext cx="5074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magic    = "GGUF"        // 0x46554747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version  = 3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n_tensors = 206          // 206 个核心张量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n_kv      = 32           // 32 条元数据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8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Header 定长 24 字节，读完即可 seek 到 KV 区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468112" cy="265176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6362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5AA2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② 关键元数据 KV 解析</a:t>
            </a:r>
            <a:endParaRPr sz="1050" b="1">
              <a:solidFill>
                <a:srgbClr val="5AA2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19"/>
            <a:ext cx="50749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general.architecture    = "qwen2"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general.name            = "qwen2-1.5b-instruct"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qwen2.context_length    = 32768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qwen2.embedding_length  = 1536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qwen2.block_count       = 28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qwen2.attention.head_count = 12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tokenizer.ggml.model    = "gpt2"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tokenizer.ggml.tokens   = ARRAY(151936)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KV 区 KB 级，单遍读完后即可开始构建模型骨架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47472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7530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9A3D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▍ ③ 张量列表节选（体现 Q4_K_M 混合）</a:t>
            </a:r>
            <a:endParaRPr sz="1050" b="1">
              <a:solidFill>
                <a:srgbClr val="FF9A3D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50749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token_embd.weight      f32→Q6_K  [896, 151936]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41D15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output.weight          f32→Q6_K  [896, 151936]</a:t>
            </a:r>
            <a:endParaRPr sz="1050" b="0">
              <a:solidFill>
                <a:srgbClr val="41D15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blk.0.attn_q.weight    Q4_K      [896, 896]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blk.0.attn_k.weight    Q8_0      [256, 896]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FFD45E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blk.0.attn_v.weight    Q6_K      [896, 896]</a:t>
            </a:r>
            <a:endParaRPr sz="1050" b="0">
              <a:solidFill>
                <a:srgbClr val="FFD45E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blk.0.ffn_gate.weight  Q4_K      [4864, 896]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blk.0.ffn_down.weight  Q4_K      [896, 4864]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...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// 嵌入/输出/敏感注意力升级 Q6_K，主体 Q4_K</a:t>
            </a:r>
            <a:endParaRPr sz="105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4206240"/>
            <a:ext cx="5468112" cy="196596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34340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41D1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 从实例能读出什么</a:t>
            </a:r>
            <a:endParaRPr sz="1200" b="1">
              <a:solidFill>
                <a:srgbClr val="41D1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4709160"/>
            <a:ext cx="5074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206 个张量 / 32 条 KV，KB 级元数据即可描述整个模型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GQA 架构：K/V 头维度 256，远小于 Q 的 896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混合精度是「按张量语义」而非「按大小」决定 — 与第 06 章配方表完全对应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07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工具链全景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从模型转换 → 量化压缩 → 校验调试 → 部署运行 —— 一条完整的流水线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23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核心工具矩阵</a:t>
            </a:r>
            <a:endParaRPr sz="1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606040" cy="192024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240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" y="2167128"/>
            <a:ext cx="2203704" cy="384048"/>
          </a:xfrm>
          <a:prstGeom prst="roundRect">
            <a:avLst>
              <a:gd name="adj" fmla="val 12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gguf-py 库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" y="274320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Python 生态核心库，便捷读写 GGUF 文件，支持元数据编辑与张量导出，是模型处理的基础工具。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91839" y="1965960"/>
            <a:ext cx="2606040" cy="192024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240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93008" y="2167128"/>
            <a:ext cx="2203704" cy="384048"/>
          </a:xfrm>
          <a:prstGeom prst="roundRect">
            <a:avLst>
              <a:gd name="adj" fmla="val 12000"/>
            </a:avLst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模型转换脚本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93008" y="274320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 Hugging Face 格式模型高效转为 GGUF，打通主流开源模型与边缘部署的格式壁垒。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4069079"/>
            <a:ext cx="2606040" cy="192024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240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" y="4270247"/>
            <a:ext cx="2203704" cy="384048"/>
          </a:xfrm>
          <a:prstGeom prst="roundRect">
            <a:avLst>
              <a:gd name="adj" fmla="val 12000"/>
            </a:avLst>
          </a:prstGeom>
          <a:solidFill>
            <a:srgbClr val="41D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量化压缩工具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088" y="4846319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将高精度 FP16 模型压缩为 Q4_K_M 等轻量化格式，显著降低显存占用，适配低算力设备。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91839" y="4069079"/>
            <a:ext cx="2606040" cy="192024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240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93008" y="4270247"/>
            <a:ext cx="2203704" cy="384048"/>
          </a:xfrm>
          <a:prstGeom prst="roundRect">
            <a:avLst>
              <a:gd name="adj" fmla="val 12000"/>
            </a:avLst>
          </a:prstGeom>
          <a:solidFill>
            <a:srgbClr val="FF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二进制调试工具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93008" y="4846319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深度解析文件结构，输出 Header、KV 元数据及张量列表，是模型调试与格式校验的利器。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45936" y="1417320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广泛生态支持</a:t>
            </a:r>
            <a:endParaRPr sz="1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45936" y="1965960"/>
            <a:ext cx="2606040" cy="192024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240">
            <a:solidFill>
              <a:srgbClr val="C3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47104" y="2167128"/>
            <a:ext cx="2203704" cy="384048"/>
          </a:xfrm>
          <a:prstGeom prst="roundRect">
            <a:avLst>
              <a:gd name="adj" fmla="val 12000"/>
            </a:avLst>
          </a:prstGeom>
          <a:solidFill>
            <a:srgbClr val="C3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llama.cpp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47104" y="274320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格式的发源地与核心实现者，高性能边缘推理引擎，为各类应用提供底层算力支持。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134856" y="1965960"/>
            <a:ext cx="2606040" cy="192024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240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6024" y="2167128"/>
            <a:ext cx="2203704" cy="384048"/>
          </a:xfrm>
          <a:prstGeom prst="roundRect">
            <a:avLst>
              <a:gd name="adj" fmla="val 12000"/>
            </a:avLst>
          </a:prstGeom>
          <a:solidFill>
            <a:srgbClr val="3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WebUI 交互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36024" y="274320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 text-generation-webui 等主流开源界面，完美兼容 GGUF，提供可视化的交互体验。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345936" y="4069079"/>
            <a:ext cx="2606040" cy="192024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240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47104" y="4270247"/>
            <a:ext cx="2203704" cy="384048"/>
          </a:xfrm>
          <a:prstGeom prst="roundRect">
            <a:avLst>
              <a:gd name="adj" fmla="val 12000"/>
            </a:avLst>
          </a:prstGeom>
          <a:solidFill>
            <a:srgbClr val="41D1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Ollama 部署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47104" y="4846319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极简的大模型管理工具，底层默认采用 GGUF 格式，实现模型的一键下载、部署与运行。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134856" y="4069079"/>
            <a:ext cx="2606040" cy="192024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5240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36024" y="4270247"/>
            <a:ext cx="2203704" cy="384048"/>
          </a:xfrm>
          <a:prstGeom prst="roundRect">
            <a:avLst>
              <a:gd name="adj" fmla="val 12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生态百花齐放</a:t>
            </a:r>
            <a:endParaRPr sz="12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336024" y="4846319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被众多应用、框架与库广泛集成，已成为边缘 AI 部署的通用标准格式，持续推动生态繁荣。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8000"/>
            </a:avLst>
          </a:prstGeom>
          <a:solidFill>
            <a:srgbClr val="24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03504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典型流水线：</a:t>
            </a:r>
            <a:r>
              <a:rPr sz="1050" b="0">
                <a:solidFill>
                  <a:srgbClr val="CADCFC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HuggingFace 模型  →  convert_hf_to_gguf.py  →  llama-quantize  →  gguf-split（可选）  →  llama.cpp / Ollama 部署</a:t>
            </a:r>
            <a:endParaRPr sz="1050" b="0">
              <a:solidFill>
                <a:srgbClr val="CADCFC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08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格式对比：GGUF vs ONNX 设计哲学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是为大语言模型推理量身定制的「权重包」；ONNX 是追求跨框架兼容的「通用计算图」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24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53312"/>
            <a:ext cx="1118311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与 ONNX 代表了两种截然不同的模型序列化哲学：前者是为大语言模型推理量身定制的「权重包」，后者是追求跨框架兼容的「通用计算图」。</a:t>
            </a:r>
            <a:endParaRPr sz="12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2057400"/>
            <a:ext cx="5440680" cy="475488"/>
          </a:xfrm>
          <a:prstGeom prst="roundRect">
            <a:avLst>
              <a:gd name="adj" fmla="val 8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542239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GGUF：专注推理的「权重包」</a:t>
            </a:r>
            <a:endParaRPr sz="19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5422392" cy="475488"/>
          </a:xfrm>
          <a:prstGeom prst="roundRect">
            <a:avLst>
              <a:gd name="adj" fmla="val 8000"/>
            </a:avLst>
          </a:prstGeom>
          <a:solidFill>
            <a:srgbClr val="C3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057400"/>
            <a:ext cx="542239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ONNX：跨框架的「通用计算图」</a:t>
            </a:r>
            <a:endParaRPr sz="19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2715768"/>
            <a:ext cx="5422392" cy="82296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07208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🎯 核心定位：轻量化权重容器</a:t>
            </a:r>
            <a:endParaRPr sz="125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312724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专为预训练模型设计，将权重与配置紧密打包，专注于高效存储与快速加载。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2715768"/>
            <a:ext cx="5422392" cy="82296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807208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C39B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🌐 核心定位：通用中间表示</a:t>
            </a:r>
            <a:endParaRPr sz="1250" b="1">
              <a:solidFill>
                <a:srgbClr val="C39B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12724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作为 AI 模型的「通用语言」，完整描述计算逻辑，实现跨框架、跨硬件的无缝转换。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3630168"/>
            <a:ext cx="5422392" cy="82296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21608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🧩 隐式计算图</a:t>
            </a:r>
            <a:endParaRPr sz="125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404164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计算逻辑由推理引擎内置，仅通过元数据指定模型类型，无需显式存储算子细节。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63640" y="3630168"/>
            <a:ext cx="5422392" cy="82296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21608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C39B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📐 显式计算图</a:t>
            </a:r>
            <a:endParaRPr sz="1250" b="1">
              <a:solidFill>
                <a:srgbClr val="C39B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46520" y="404164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 Protobuf 格式完整记录算子、张量与数据流，计算逻辑完全透明且可解析。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02920" y="4544568"/>
            <a:ext cx="5422392" cy="82296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636008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🚀 LLM 专用推理部署</a:t>
            </a:r>
            <a:endParaRPr sz="125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495604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深度适配解码器架构，针对大模型推理的速度与内存效率做极致优化，部署即用。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63640" y="4544568"/>
            <a:ext cx="5422392" cy="82296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636008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C39B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🔄 跨框架与跨硬件转换</a:t>
            </a:r>
            <a:endParaRPr sz="1250" b="1">
              <a:solidFill>
                <a:srgbClr val="C39B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46520" y="495604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连接 PyTorch、TensorFlow 等框架，适配不同硬件平台，是模型迁移的标准通用格式。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2920" y="5458968"/>
            <a:ext cx="5422392" cy="82296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50408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⚡ 极致性能，架构特定</a:t>
            </a:r>
            <a:endParaRPr sz="125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5800" y="587044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内存映射与 SIMD 加速带来极快加载速度，但对新型非标准架构的兼容性较弱。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263640" y="5458968"/>
            <a:ext cx="5422392" cy="822960"/>
          </a:xfrm>
          <a:prstGeom prst="roundRect">
            <a:avLst>
              <a:gd name="adj" fmla="val 5000"/>
            </a:avLst>
          </a:prstGeom>
          <a:solidFill>
            <a:srgbClr val="1C2640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550408"/>
            <a:ext cx="50566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C39B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🔧 高度通用，灵活适配</a:t>
            </a:r>
            <a:endParaRPr sz="1250" b="1">
              <a:solidFill>
                <a:srgbClr val="C39B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46520" y="5870448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兼容几乎所有深度学习模型，代价是推理时需动态解析计算图，存在少量性能开销。</a:t>
            </a:r>
            <a:endParaRPr sz="10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09</a:t>
            </a:r>
            <a:endParaRPr sz="2200" b="1">
              <a:solidFill>
                <a:srgbClr val="FFFFFF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20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总结与未来展望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8046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格式同构的编解码器 + 分配前校验的纵深防御 —— 这是 gguf.cpp 的两个内核</a:t>
            </a:r>
            <a:endParaRPr sz="13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B96A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25</a:t>
            </a:r>
            <a:endParaRPr sz="900" b="0">
              <a:solidFill>
                <a:srgbClr val="8B96A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5422392" cy="1005840"/>
          </a:xfrm>
          <a:prstGeom prst="roundRect">
            <a:avLst>
              <a:gd name="adj" fmla="val 5500"/>
            </a:avLst>
          </a:prstGeom>
          <a:solidFill>
            <a:srgbClr val="1C2640"/>
          </a:solidFill>
          <a:ln w="15240">
            <a:solidFill>
              <a:srgbClr val="5A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09344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AA2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单文件自包含</a:t>
            </a:r>
            <a:endParaRPr sz="1400" b="1">
              <a:solidFill>
                <a:srgbClr val="5AA2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2" y="1993392"/>
            <a:ext cx="4983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权重 + 元数据 + Tokenizer 打包进单文件，分发部署零依赖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422392" cy="1005840"/>
          </a:xfrm>
          <a:prstGeom prst="roundRect">
            <a:avLst>
              <a:gd name="adj" fmla="val 5500"/>
            </a:avLst>
          </a:prstGeom>
          <a:solidFill>
            <a:srgbClr val="1C2640"/>
          </a:solidFill>
          <a:ln w="15240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609344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mmap 按需加载</a:t>
            </a:r>
            <a:endParaRPr sz="14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19672" y="1993392"/>
            <a:ext cx="4983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元数据先行 O(KB)，权重页错误时才读盘，启动与模型大小解耦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2615184"/>
            <a:ext cx="5422392" cy="1005840"/>
          </a:xfrm>
          <a:prstGeom prst="roundRect">
            <a:avLst>
              <a:gd name="adj" fmla="val 5500"/>
            </a:avLst>
          </a:prstGeom>
          <a:solidFill>
            <a:srgbClr val="1C2640"/>
          </a:solidFill>
          <a:ln w="15240">
            <a:solidFill>
              <a:srgbClr val="41D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761488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1D1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可扩展元数据</a:t>
            </a:r>
            <a:endParaRPr sz="1400" b="1">
              <a:solidFill>
                <a:srgbClr val="41D1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952" y="3145536"/>
            <a:ext cx="4983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KV 键值承载任意架构超参，新增架构零格式改动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63640" y="2615184"/>
            <a:ext cx="5422392" cy="1005840"/>
          </a:xfrm>
          <a:prstGeom prst="roundRect">
            <a:avLst>
              <a:gd name="adj" fmla="val 5500"/>
            </a:avLst>
          </a:prstGeom>
          <a:solidFill>
            <a:srgbClr val="1C2640"/>
          </a:solidFill>
          <a:ln w="15240">
            <a:solidFill>
              <a:srgbClr val="FF9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761488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9A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 层安全防御</a:t>
            </a:r>
            <a:endParaRPr sz="1400" b="1">
              <a:solidFill>
                <a:srgbClr val="FF9A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19672" y="3145536"/>
            <a:ext cx="4983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分配前全量校验，畸形输入在元数据阶段即被无损拦截</a:t>
            </a:r>
            <a:endParaRPr sz="110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3886200"/>
            <a:ext cx="11183112" cy="1325880"/>
          </a:xfrm>
          <a:prstGeom prst="roundRect">
            <a:avLst>
              <a:gd name="adj" fmla="val 4000"/>
            </a:avLst>
          </a:prstGeom>
          <a:solidFill>
            <a:srgbClr val="1C2640"/>
          </a:solidFill>
          <a:ln w="15875">
            <a:solidFill>
              <a:srgbClr val="3F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0507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FD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▍一句话总结</a:t>
            </a:r>
            <a:endParaRPr sz="1300" b="1">
              <a:solidFill>
                <a:srgbClr val="3FD6D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4343400"/>
            <a:ext cx="10652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CADC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gguf.cpp 的本质是一个「格式同构」的编解码器：文件字节布局与内存结构保持一一映射，读取与写入互为逆过程。所有复杂性都通过边界抽象隔离在核心数据结构之外；安全性则依靠「分配前校验」的纵深防御体系。</a:t>
            </a:r>
            <a:endParaRPr sz="1150" b="0">
              <a:solidFill>
                <a:srgbClr val="CADC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5349240"/>
            <a:ext cx="11183112" cy="1005840"/>
          </a:xfrm>
          <a:prstGeom prst="roundRect">
            <a:avLst>
              <a:gd name="adj" fmla="val 4000"/>
            </a:avLst>
          </a:prstGeom>
          <a:solidFill>
            <a:srgbClr val="243152"/>
          </a:solidFill>
          <a:ln w="12700">
            <a:solidFill>
              <a:srgbClr val="243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4068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39B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▍三个演进方向</a:t>
            </a:r>
            <a:endParaRPr sz="1200" b="1">
              <a:solidFill>
                <a:srgbClr val="C39B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571500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39B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多模态</a:t>
            </a:r>
            <a:endParaRPr sz="1100" b="1">
              <a:solidFill>
                <a:srgbClr val="C39B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63040" y="57150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视觉/音频投影层可作普通张量入文件，无需改格式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89120" y="571500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39B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端侧优化</a:t>
            </a:r>
            <a:endParaRPr sz="1100" b="1">
              <a:solidFill>
                <a:srgbClr val="C39B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74920" y="57150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混合精度配方按张量语义进一步精细化，按硬件定制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01000" y="571500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39B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分片流式</a:t>
            </a:r>
            <a:endParaRPr sz="1100" b="1">
              <a:solidFill>
                <a:srgbClr val="C39B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86800" y="57150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gguf-split + mmap + HTTP Range → 边下边跑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基于 ggml/src/gguf.cpp 与 ggml/include/gguf.h</a:t>
            </a:r>
            <a:endParaRPr sz="9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Q&amp;A</a:t>
            </a:r>
            <a:endParaRPr sz="5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40480" y="4069080"/>
            <a:ext cx="4507992" cy="502920"/>
          </a:xfrm>
          <a:prstGeom prst="roundRect">
            <a:avLst>
              <a:gd name="adj" fmla="val 14000"/>
            </a:avLst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4069080"/>
            <a:ext cx="450799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0F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感谢聆听</a:t>
            </a:r>
            <a:endParaRPr sz="2400" b="1">
              <a:solidFill>
                <a:srgbClr val="0B0F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欢迎随时交流与提问，共同探讨更多可能</a:t>
            </a:r>
            <a:endParaRPr sz="15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B96A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GGUF 文件格式深度解析 · 九章完整版 · 2026 年 9 月</a:t>
            </a:r>
            <a:endParaRPr sz="1000" b="0">
              <a:solidFill>
                <a:srgbClr val="8B96A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15884</Words>
  <Application>WPS 演示</Application>
  <PresentationFormat>On-screen Show (4:3)</PresentationFormat>
  <Paragraphs>1226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Arial</vt:lpstr>
      <vt:lpstr>宋体</vt:lpstr>
      <vt:lpstr>Wingdings</vt:lpstr>
      <vt:lpstr>Arial</vt:lpstr>
      <vt:lpstr>PingFang SC</vt:lpstr>
      <vt:lpstr>Menlo</vt:lpstr>
      <vt:lpstr>Calibri</vt:lpstr>
      <vt:lpstr>Helvetica Neue</vt:lpstr>
      <vt:lpstr>汉仪书宋二KW</vt:lpstr>
      <vt:lpstr>宋体</vt:lpstr>
      <vt:lpstr>微软雅黑</vt:lpstr>
      <vt:lpstr>汉仪旗黑</vt:lpstr>
      <vt:lpstr>Arial Unicode MS</vt:lpstr>
      <vt:lpstr>Menlo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朱志超</cp:lastModifiedBy>
  <cp:revision>3</cp:revision>
  <dcterms:created xsi:type="dcterms:W3CDTF">2026-09-25T00:14:55Z</dcterms:created>
  <dcterms:modified xsi:type="dcterms:W3CDTF">2026-09-25T00:14:55Z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7988062B65DAA73AFEBCB56A9703259C_43</vt:lpwstr>
  </property>
</Properties>
</file>